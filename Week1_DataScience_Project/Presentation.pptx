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84b8b44-3833-5a4d-f5a7-62a22a4f35e4}">
          <p14:sldIdLst>
            <p14:sldId id="256"/>
            <p14:sldId id="257"/>
          </p14:sldIdLst>
        </p14:section>
        <p14:section name="Data and cleaning" id="{a41e67a4-4399-0023-dfbd-1a8faf5e79fe}">
          <p14:sldIdLst>
            <p14:sldId id="258"/>
          </p14:sldIdLst>
        </p14:section>
        <p14:section name="Findings" id="{a51f6851-ff26-66f3-d688-d5db989ef90a}">
          <p14:sldIdLst>
            <p14:sldId id="259"/>
            <p14:sldId id="260"/>
            <p14:sldId id="261"/>
            <p14:sldId id="262"/>
            <p14:sldId id="263"/>
            <p14:sldId id="264"/>
            <p14:sldId id="265"/>
          </p14:sldIdLst>
        </p14:section>
        <p14:section name="Next steps" id="{9ee96fea-6db3-3b67-5d33-fc0fb71c6458}">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1D"/>
                </a:solidFill>
                <a:latin typeface="+mn-lt"/>
              </a:defRPr>
            </a:pPr>
            <a:r>
              <a:rPr sz="1200" b="0" i="0" u="none" strike="noStrike">
                <a:solidFill>
                  <a:srgbClr val="1B1F1D"/>
                </a:solidFill>
                <a:latin typeface="+mn-lt"/>
              </a:rPr>
              <a:t>Order value by status (₦ millions)</a:t>
            </a:r>
          </a:p>
        </c:rich>
      </c:tx>
      <c:layout/>
      <c:overlay val="0"/>
    </c:title>
    <c:autoTitleDeleted val="0"/>
    <c:plotArea>
      <c:layout/>
      <c:barChart>
        <c:barDir val="col"/>
        <c:grouping val="clustered"/>
        <c:varyColors val="0"/>
        <c:ser>
          <c:idx val="0"/>
          <c:order val="0"/>
          <c:tx>
            <c:strRef>
              <c:f>Sheet1!$B$1</c:f>
              <c:strCache>
                <c:ptCount val="1"/>
                <c:pt idx="0">
                  <c:v>Order value</c:v>
                </c:pt>
              </c:strCache>
            </c:strRef>
          </c:tx>
          <c:spPr>
            <a:solidFill>
              <a:srgbClr val="0F7B5A"/>
            </a:solidFill>
            <a:effectLst/>
          </c:spPr>
          <c:invertIfNegative val="0"/>
          <c:dLbls>
            <c:numFmt formatCode="₦0&quot;M&quot;"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cat>
            <c:multiLvlStrRef>
              <c:f>Sheet1!$A$2:$A$4</c:f>
              <c:multiLvlStrCache>
                <c:ptCount val="3"/>
                <c:lvl>
                  <c:pt idx="0">
                    <c:v>Completed</c:v>
                  </c:pt>
                  <c:pt idx="1">
                    <c:v>Pending</c:v>
                  </c:pt>
                  <c:pt idx="2">
                    <c:v>Cancelled</c:v>
                  </c:pt>
                </c:lvl>
              </c:multiLvlStrCache>
            </c:multiLvlStrRef>
          </c:cat>
          <c:val>
            <c:numRef>
              <c:f>Sheet1!$B$2:$B$4</c:f>
              <c:numCache>
                <c:formatCode>General</c:formatCode>
                <c:ptCount val="3"/>
                <c:pt idx="0">
                  <c:v>2247</c:v>
                </c:pt>
                <c:pt idx="1">
                  <c:v>2276</c:v>
                </c:pt>
                <c:pt idx="2">
                  <c:v>2297</c:v>
                </c:pt>
              </c:numCache>
            </c:numRef>
          </c:val>
        </c:ser>
        <c:dLbls>
          <c:numFmt formatCode="₦0&quot;M&quot;"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1D"/>
                </a:solidFill>
                <a:latin typeface="+mn-lt"/>
              </a:defRPr>
            </a:pPr>
            <a:r>
              <a:rPr sz="1200" b="0" i="0" u="none" strike="noStrike">
                <a:solidFill>
                  <a:srgbClr val="1B1F1D"/>
                </a:solidFill>
                <a:latin typeface="+mn-lt"/>
              </a:rPr>
              <a:t>Monthly revenue, completed orders (₦ millions)</a:t>
            </a:r>
          </a:p>
        </c:rich>
      </c:tx>
      <c:layout/>
      <c:overlay val="0"/>
    </c:title>
    <c:autoTitleDeleted val="0"/>
    <c:plotArea>
      <c:layout/>
      <c:lineChart>
        <c:varyColors val="0"/>
        <c:ser>
          <c:idx val="0"/>
          <c:order val="0"/>
          <c:tx>
            <c:strRef>
              <c:f>Sheet1!$B$1</c:f>
              <c:strCache>
                <c:ptCount val="1"/>
                <c:pt idx="0">
                  <c:v>Revenue</c:v>
                </c:pt>
              </c:strCache>
            </c:strRef>
          </c:tx>
          <c:spPr>
            <a:solidFill>
              <a:srgbClr val="0F7B5A"/>
            </a:solidFill>
            <a:ln w="31750" cap="flat">
              <a:solidFill>
                <a:srgbClr val="0F7B5A"/>
              </a:solidFill>
              <a:prstDash val="solid"/>
              <a:round/>
            </a:ln>
            <a:effectLst/>
          </c:spPr>
          <c:invertIfNegative val="0"/>
          <c:dLbls>
            <c:numFmt formatCode="#,##0" sourceLinked="0"/>
            <c:txPr>
              <a:bodyPr/>
              <a:lstStyle/>
              <a:p>
                <a:pPr>
                  <a:defRPr b="0" i="0" strike="noStrike" sz="1000" u="none">
                    <a:solidFill>
                      <a:srgbClr val="1B1F1D"/>
                    </a:solidFill>
                    <a:latin typeface="+mn-lt"/>
                  </a:defRPr>
                </a:pPr>
              </a:p>
            </c:txPr>
            <c:showLegendKey val="0"/>
            <c:showVal val="0"/>
            <c:showCatName val="0"/>
            <c:showSerName val="0"/>
            <c:showPercent val="0"/>
            <c:showBubbleSize val="0"/>
            <c:showLeaderLines val="0"/>
          </c:dLbls>
          <c:marker>
            <c:symbol val="circle"/>
            <c:size val="7"/>
            <c:spPr>
              <a:solidFill>
                <a:srgbClr val="0F7B5A"/>
              </a:solidFill>
              <a:ln w="9525" cap="flat">
                <a:solidFill>
                  <a:srgbClr val="0F7B5A"/>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193.22791859999998</c:v>
                </c:pt>
                <c:pt idx="1">
                  <c:v>170.70058845</c:v>
                </c:pt>
                <c:pt idx="2">
                  <c:v>191.8705516</c:v>
                </c:pt>
                <c:pt idx="3">
                  <c:v>189.8232994</c:v>
                </c:pt>
                <c:pt idx="4">
                  <c:v>183.02936269999998</c:v>
                </c:pt>
                <c:pt idx="5">
                  <c:v>174.64912965</c:v>
                </c:pt>
                <c:pt idx="6">
                  <c:v>187.9647971</c:v>
                </c:pt>
                <c:pt idx="7">
                  <c:v>183.39482635</c:v>
                </c:pt>
                <c:pt idx="8">
                  <c:v>186.06685769999999</c:v>
                </c:pt>
                <c:pt idx="9">
                  <c:v>197.4026366</c:v>
                </c:pt>
                <c:pt idx="10">
                  <c:v>187.66912159999998</c:v>
                </c:pt>
                <c:pt idx="11">
                  <c:v>201.03874075</c:v>
                </c:pt>
              </c:numCache>
            </c:numRef>
          </c:val>
          <c:smooth val="0"/>
        </c:ser>
        <c:dLbls>
          <c:numFmt formatCode="#,##0" sourceLinked="0"/>
          <c:txPr>
            <a:bodyPr/>
            <a:lstStyle/>
            <a:p>
              <a:pPr>
                <a:defRPr b="0" i="0" strike="noStrike" sz="1000" u="none">
                  <a:solidFill>
                    <a:srgbClr val="1B1F1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210"/>
          <c:min val="150"/>
        </c:scaling>
        <c:delete val="0"/>
        <c:axPos val="l"/>
        <c:majorGridlines>
          <c:spPr>
            <a:ln w="9525" cap="flat">
              <a:solidFill>
                <a:srgbClr val="E3E8E5"/>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1D"/>
                </a:solidFill>
                <a:latin typeface="+mn-lt"/>
              </a:defRPr>
            </a:pPr>
            <a:r>
              <a:rPr sz="1200" b="0" i="0" u="none" strike="noStrike">
                <a:solidFill>
                  <a:srgbClr val="1B1F1D"/>
                </a:solidFill>
                <a:latin typeface="+mn-lt"/>
              </a:rPr>
              <a:t>Revenue by category (₦ millions)</a:t>
            </a:r>
          </a:p>
        </c:rich>
      </c:tx>
      <c:layout/>
      <c:overlay val="0"/>
    </c:title>
    <c:autoTitleDeleted val="0"/>
    <c:plotArea>
      <c:layout/>
      <c:barChart>
        <c:barDir val="bar"/>
        <c:grouping val="clustered"/>
        <c:varyColors val="0"/>
        <c:ser>
          <c:idx val="0"/>
          <c:order val="0"/>
          <c:tx>
            <c:strRef>
              <c:f>Sheet1!$B$1</c:f>
              <c:strCache>
                <c:ptCount val="1"/>
                <c:pt idx="0">
                  <c:v>Revenue</c:v>
                </c:pt>
              </c:strCache>
            </c:strRef>
          </c:tx>
          <c:spPr>
            <a:solidFill>
              <a:srgbClr val="0F7B5A"/>
            </a:solidFill>
            <a:effectLst/>
          </c:spPr>
          <c:invertIfNegative val="0"/>
          <c:dLbls>
            <c:numFmt formatCode="₦0&quot;M&quot;"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cat>
            <c:multiLvlStrRef>
              <c:f>Sheet1!$A$2:$A$6</c:f>
              <c:multiLvlStrCache>
                <c:ptCount val="5"/>
                <c:lvl>
                  <c:pt idx="0">
                    <c:v>Beauty</c:v>
                  </c:pt>
                  <c:pt idx="1">
                    <c:v>Groceries</c:v>
                  </c:pt>
                  <c:pt idx="2">
                    <c:v>Electronics</c:v>
                  </c:pt>
                  <c:pt idx="3">
                    <c:v>Fashion</c:v>
                  </c:pt>
                  <c:pt idx="4">
                    <c:v>Home</c:v>
                  </c:pt>
                </c:lvl>
              </c:multiLvlStrCache>
            </c:multiLvlStrRef>
          </c:cat>
          <c:val>
            <c:numRef>
              <c:f>Sheet1!$B$2:$B$6</c:f>
              <c:numCache>
                <c:formatCode>General</c:formatCode>
                <c:ptCount val="5"/>
                <c:pt idx="0">
                  <c:v>523.1279601499999</c:v>
                </c:pt>
                <c:pt idx="1">
                  <c:v>463.29373505</c:v>
                </c:pt>
                <c:pt idx="2">
                  <c:v>458.60769455</c:v>
                </c:pt>
                <c:pt idx="3">
                  <c:v>412.22461905</c:v>
                </c:pt>
                <c:pt idx="4">
                  <c:v>389.5838217</c:v>
                </c:pt>
              </c:numCache>
            </c:numRef>
          </c:val>
        </c:ser>
        <c:dLbls>
          <c:numFmt formatCode="₦0&quot;M&quot;"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1D"/>
                </a:solidFill>
                <a:latin typeface="+mn-lt"/>
              </a:defRPr>
            </a:pPr>
            <a:r>
              <a:rPr sz="1200" b="0" i="0" u="none" strike="noStrike">
                <a:solidFill>
                  <a:srgbClr val="1B1F1D"/>
                </a:solidFill>
                <a:latin typeface="+mn-lt"/>
              </a:rPr>
              <a:t>Revenue per store by zone (₦ millions)</a:t>
            </a:r>
          </a:p>
        </c:rich>
      </c:tx>
      <c:layout/>
      <c:overlay val="0"/>
    </c:title>
    <c:autoTitleDeleted val="0"/>
    <c:plotArea>
      <c:layout/>
      <c:barChart>
        <c:barDir val="bar"/>
        <c:grouping val="clustered"/>
        <c:varyColors val="0"/>
        <c:ser>
          <c:idx val="0"/>
          <c:order val="0"/>
          <c:tx>
            <c:strRef>
              <c:f>Sheet1!$B$1</c:f>
              <c:strCache>
                <c:ptCount val="1"/>
                <c:pt idx="0">
                  <c:v>Revenue per store</c:v>
                </c:pt>
              </c:strCache>
            </c:strRef>
          </c:tx>
          <c:spPr>
            <a:solidFill>
              <a:srgbClr val="0F7B5A"/>
            </a:solidFill>
            <a:effectLst/>
          </c:spPr>
          <c:invertIfNegative val="0"/>
          <c:dLbls>
            <c:numFmt formatCode="₦0&quot;M&quot;"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cat>
            <c:multiLvlStrRef>
              <c:f>Sheet1!$A$2:$A$6</c:f>
              <c:multiLvlStrCache>
                <c:ptCount val="5"/>
                <c:lvl>
                  <c:pt idx="0">
                    <c:v>South West</c:v>
                  </c:pt>
                  <c:pt idx="1">
                    <c:v>South East</c:v>
                  </c:pt>
                  <c:pt idx="2">
                    <c:v>North Central</c:v>
                  </c:pt>
                  <c:pt idx="3">
                    <c:v>South South</c:v>
                  </c:pt>
                  <c:pt idx="4">
                    <c:v>North West</c:v>
                  </c:pt>
                </c:lvl>
              </c:multiLvlStrCache>
            </c:multiLvlStrRef>
          </c:cat>
          <c:val>
            <c:numRef>
              <c:f>Sheet1!$B$2:$B$6</c:f>
              <c:numCache>
                <c:formatCode>General</c:formatCode>
                <c:ptCount val="5"/>
                <c:pt idx="0">
                  <c:v>93.11589249500001</c:v>
                </c:pt>
                <c:pt idx="1">
                  <c:v>91.40355975</c:v>
                </c:pt>
                <c:pt idx="2">
                  <c:v>88.8104472875</c:v>
                </c:pt>
                <c:pt idx="3">
                  <c:v>86.61108127000001</c:v>
                </c:pt>
                <c:pt idx="4">
                  <c:v>86.14364763750001</c:v>
                </c:pt>
              </c:numCache>
            </c:numRef>
          </c:val>
        </c:ser>
        <c:dLbls>
          <c:numFmt formatCode="₦0&quot;M&quot;"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1D"/>
                </a:solidFill>
                <a:latin typeface="+mn-lt"/>
              </a:defRPr>
            </a:pPr>
            <a:r>
              <a:rPr sz="1200" b="0" i="0" u="none" strike="noStrike">
                <a:solidFill>
                  <a:srgbClr val="1B1F1D"/>
                </a:solidFill>
                <a:latin typeface="+mn-lt"/>
              </a:rPr>
              <a:t>RFM segments (K-Means, k = 4)</a:t>
            </a:r>
          </a:p>
        </c:rich>
      </c:tx>
      <c:layout/>
      <c:overlay val="0"/>
    </c:title>
    <c:autoTitleDeleted val="0"/>
    <c:plotArea>
      <c:layout/>
      <c:barChart>
        <c:barDir val="bar"/>
        <c:grouping val="clustered"/>
        <c:varyColors val="0"/>
        <c:ser>
          <c:idx val="0"/>
          <c:order val="0"/>
          <c:tx>
            <c:strRef>
              <c:f>Sheet1!$B$1</c:f>
              <c:strCache>
                <c:ptCount val="1"/>
                <c:pt idx="0">
                  <c:v>Share of customers</c:v>
                </c:pt>
              </c:strCache>
            </c:strRef>
          </c:tx>
          <c:spPr>
            <a:solidFill>
              <a:srgbClr val="8A9A93"/>
            </a:solidFill>
            <a:effectLst/>
          </c:spPr>
          <c:invertIfNegative val="0"/>
          <c:dLbls>
            <c:numFmt formatCode="0%"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cat>
            <c:multiLvlStrRef>
              <c:f>Sheet1!$A$2:$A$5</c:f>
              <c:multiLvlStrCache>
                <c:ptCount val="4"/>
                <c:lvl>
                  <c:pt idx="0">
                    <c:v>Champions</c:v>
                  </c:pt>
                  <c:pt idx="1">
                    <c:v>Active Low-Converters</c:v>
                  </c:pt>
                  <c:pt idx="2">
                    <c:v>At Risk / Lapsing</c:v>
                  </c:pt>
                  <c:pt idx="3">
                    <c:v>Non-Converters</c:v>
                  </c:pt>
                </c:lvl>
              </c:multiLvlStrCache>
            </c:multiLvlStrRef>
          </c:cat>
          <c:val>
            <c:numRef>
              <c:f>Sheet1!$B$2:$B$5</c:f>
              <c:numCache>
                <c:formatCode>General</c:formatCode>
                <c:ptCount val="4"/>
                <c:pt idx="0">
                  <c:v>0.4342</c:v>
                </c:pt>
                <c:pt idx="1">
                  <c:v>0.4034</c:v>
                </c:pt>
                <c:pt idx="2">
                  <c:v>0.1214</c:v>
                </c:pt>
                <c:pt idx="3">
                  <c:v>0.041</c:v>
                </c:pt>
              </c:numCache>
            </c:numRef>
          </c:val>
        </c:ser>
        <c:ser>
          <c:idx val="1"/>
          <c:order val="1"/>
          <c:tx>
            <c:strRef>
              <c:f>Sheet1!$C$1</c:f>
              <c:strCache>
                <c:ptCount val="1"/>
                <c:pt idx="0">
                  <c:v>Share of revenue</c:v>
                </c:pt>
              </c:strCache>
            </c:strRef>
          </c:tx>
          <c:spPr>
            <a:solidFill>
              <a:srgbClr val="0F7B5A"/>
            </a:solidFill>
            <a:effectLst/>
          </c:spPr>
          <c:invertIfNegative val="0"/>
          <c:dLbls>
            <c:numFmt formatCode="0%"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cat>
            <c:multiLvlStrRef>
              <c:f>Sheet1!$A$2:$A$5</c:f>
              <c:multiLvlStrCache>
                <c:ptCount val="4"/>
                <c:lvl>
                  <c:pt idx="0">
                    <c:v>Champions</c:v>
                  </c:pt>
                  <c:pt idx="1">
                    <c:v>Active Low-Converters</c:v>
                  </c:pt>
                  <c:pt idx="2">
                    <c:v>At Risk / Lapsing</c:v>
                  </c:pt>
                  <c:pt idx="3">
                    <c:v>Non-Converters</c:v>
                  </c:pt>
                </c:lvl>
              </c:multiLvlStrCache>
            </c:multiLvlStrRef>
          </c:cat>
          <c:val>
            <c:numRef>
              <c:f>Sheet1!$C$2:$C$5</c:f>
              <c:numCache>
                <c:formatCode>General</c:formatCode>
                <c:ptCount val="4"/>
                <c:pt idx="0">
                  <c:v>0.637909740900635</c:v>
                </c:pt>
                <c:pt idx="1">
                  <c:v>0.2598287111669674</c:v>
                </c:pt>
                <c:pt idx="2">
                  <c:v>0.10226154793239761</c:v>
                </c:pt>
                <c:pt idx="3">
                  <c:v>0</c:v>
                </c:pt>
              </c:numCache>
            </c:numRef>
          </c:val>
        </c:ser>
        <c:dLbls>
          <c:numFmt formatCode="0%"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F1D"/>
                </a:solidFill>
                <a:latin typeface="+mn-lt"/>
              </a:defRPr>
            </a:pPr>
            <a:r>
              <a:rPr sz="1200" b="0" i="0" u="none" strike="noStrike">
                <a:solidFill>
                  <a:srgbClr val="1B1F1D"/>
                </a:solidFill>
                <a:latin typeface="+mn-lt"/>
              </a:rPr>
              <a:t>Inventory items by status (₦3.17B at cost)</a:t>
            </a:r>
          </a:p>
        </c:rich>
      </c:tx>
      <c:layout/>
      <c:overlay val="0"/>
    </c:title>
    <c:autoTitleDeleted val="0"/>
    <c:plotArea>
      <c:layout/>
      <c:barChart>
        <c:barDir val="col"/>
        <c:grouping val="clustered"/>
        <c:varyColors val="0"/>
        <c:ser>
          <c:idx val="0"/>
          <c:order val="0"/>
          <c:tx>
            <c:strRef>
              <c:f>Sheet1!$B$1</c:f>
              <c:strCache>
                <c:ptCount val="1"/>
                <c:pt idx="0">
                  <c:v>Items</c:v>
                </c:pt>
              </c:strCache>
            </c:strRef>
          </c:tx>
          <c:spPr>
            <a:solidFill>
              <a:srgbClr val="E39B2D"/>
            </a:solidFill>
            <a:effectLst/>
          </c:spPr>
          <c:invertIfNegative val="0"/>
          <c:dLbls>
            <c:numFmt formatCode="#,##0"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cat>
            <c:multiLvlStrRef>
              <c:f>Sheet1!$A$2:$A$4</c:f>
              <c:multiLvlStrCache>
                <c:ptCount val="3"/>
                <c:lvl>
                  <c:pt idx="0">
                    <c:v>Low</c:v>
                  </c:pt>
                  <c:pt idx="1">
                    <c:v>Medium</c:v>
                  </c:pt>
                  <c:pt idx="2">
                    <c:v>High</c:v>
                  </c:pt>
                </c:lvl>
              </c:multiLvlStrCache>
            </c:multiLvlStrRef>
          </c:cat>
          <c:val>
            <c:numRef>
              <c:f>Sheet1!$B$2:$B$4</c:f>
              <c:numCache>
                <c:formatCode>General</c:formatCode>
                <c:ptCount val="3"/>
                <c:pt idx="0">
                  <c:v>21</c:v>
                </c:pt>
                <c:pt idx="1">
                  <c:v>62</c:v>
                </c:pt>
                <c:pt idx="2">
                  <c:v>417</c:v>
                </c:pt>
              </c:numCache>
            </c:numRef>
          </c:val>
        </c:ser>
        <c:dLbls>
          <c:numFmt formatCode="#,##0" sourceLinked="0"/>
          <c:txPr>
            <a:bodyPr/>
            <a:lstStyle/>
            <a:p>
              <a:pPr>
                <a:defRPr b="0" i="0" strike="noStrike" sz="1000" u="none">
                  <a:solidFill>
                    <a:srgbClr val="1B1F1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summarises the exploratory analysis of ShopSmart's 2025 retail data: nine tables, 50,000 orders, 5,000 customers and 25 stores. The goal is to understand the data before any machine learning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revenue is 2.25 billion naira from completed orders, but only one in three orders completes. Profit leaks through below-cost sales, and a lot of cash sits in stock. Everything else, such as stores, categories and segments, is remarkably 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missing values and no duplicate rows, but several business rules were broken. Each issue was fixed or flagged and logged in cleaning_log.csv. The most important: discount was a percentage but the system subtracted it as naira.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KPIs from the brief. Revenue counts completed orders only. Note that inventory at cost is worth more than a full year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Orders split almost exactly into thirds by status. Cancelled and pending orders are worth twice the revenue we actually earned. Raising completion from 33% to 40% would add about 470 million naira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revenue moves within about 7% of its average. December is the peak at 201 million naira, then October. February looks weakest, but per trading day it is average, because it only has 28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Beauty earns the most, but only because it has the most products. Revenue per product is about the same in every category. Growth from Q1 to Q4 favours Fashion and Beauty, while Groceries is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store receives about 2,000 orders. The best store, Lagos STR003, completes 36% of them, and the weakest, Kano STR002, completes 32%. Per store, the South West zone leads and the North West trails, about an 8% gap. Zones use the corrected geopolitical mapping, because the source region field is unreliable.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Silver and Bronze members spend the same per customer, within 0.4%. A K-Means segmentation on recency, frequency, spend and completion finds real differences: Champions are 43% of customers but 64% of revenue. Every segment has the same mix of membership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gross margin is 45%, but 27% of completed order lines sold below cost, losing 226 million naira. 57 products and 56 suppliers lost money overall. On inventory, 417 of 500 items hold more than three times their reorder level, and only 21 need restocking.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analysis shows order value is driven by price and quantity, customer value by frequency, and that returns don't correlate with any current variable. Pricing anomaly detection and churn/CLV models can start now. Completion and return prediction need new data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priority order: fix order completion, stop below-cost sales, rebuild loyalty around RFM segments, rebalance stock, and invest in Beauty and Fashion before Q4, while fixing the source-system data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first priority is data quality at source (discounts, regions, returns dates, supplier keys). Then the cleaned and engineered datasets feed the ML track.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
        <p:nvSpPr>
          <p:cNvPr id="3" name="Text 0"/>
          <p:cNvSpPr/>
          <p:nvPr>
            <p:ph idx="101" type="body" hasCustomPrompt="1"/>
          </p:nvPr>
        </p:nvSpPr>
        <p:spPr>
          <a:xfrm>
            <a:off x="548640" y="2788920"/>
            <a:ext cx="8046720" cy="1188720"/>
          </a:xfrm>
          <a:prstGeom prst="rect">
            <a:avLst/>
          </a:prstGeom>
          <a:noFill/>
          <a:ln/>
        </p:spPr>
        <p:txBody>
          <a:bodyPr wrap="square" rtlCol="0"/>
          <a:lstStyle>
            <a:lvl1pPr indent="0" marL="0">
              <a:buNone/>
              <a:defRPr lang="en-US" sz="1600" dirty="0">
                <a:solidFill>
                  <a:schemeClr val="accent5"/>
                </a:solidFill>
                <a:latin typeface="Calibri" pitchFamily="34" charset="0"/>
                <a:ea typeface="Calibri" pitchFamily="34" charset="-122"/>
                <a:cs typeface="Calibri" pitchFamily="34" charset="-120"/>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3"/>
                </a:solidFill>
                <a:latin typeface="Calibri" pitchFamily="34" charset="0"/>
                <a:ea typeface="Calibri" pitchFamily="34" charset="-122"/>
                <a:cs typeface="Calibri" pitchFamily="34" charset="-120"/>
              </a:rPr>
              <a:t>ShopSmart Retail EDA · AnalystLab Africa, Week 1</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ShopSmart Retail: what the 2025 data tells us</a:t>
            </a:r>
            <a:endParaRPr lang="en-US" sz="3800" dirty="0"/>
          </a:p>
        </p:txBody>
      </p:sp>
      <p:sp>
        <p:nvSpPr>
          <p:cNvPr id="3" name="Text 0"/>
          <p:cNvSpPr/>
          <p:nvPr>
            <p:ph idx="101" type="body" hasCustomPrompt="1"/>
          </p:nvPr>
        </p:nvSpPr>
        <p:spPr>
          <a:xfrm>
            <a:off x="548640" y="2788920"/>
            <a:ext cx="8046720" cy="118872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Exploratory Data Analysis · Mission DS01</a:t>
            </a:r>
            <a:endParaRPr lang="en-US" sz="1600" dirty="0"/>
          </a:p>
          <a:p>
            <a:pPr indent="0" marL="0">
              <a:buNone/>
            </a:pPr>
            <a:r>
              <a:rPr lang="en-US" sz="1600" dirty="0">
                <a:solidFill>
                  <a:schemeClr val="accent5"/>
                </a:solidFill>
                <a:latin typeface="Calibri" pitchFamily="34" charset="0"/>
                <a:ea typeface="Calibri" pitchFamily="34" charset="-122"/>
                <a:cs typeface="Calibri" pitchFamily="34" charset="-120"/>
              </a:rPr>
              <a:t>Molemi Molokoane · AnalystLab Africa Experience Lab, Week 1 (Data Science Track)</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Two in three orders never become revenue</a:t>
            </a:r>
            <a:endParaRPr lang="en-US" sz="2600" dirty="0"/>
          </a:p>
        </p:txBody>
      </p:sp>
      <p:sp>
        <p:nvSpPr>
          <p:cNvPr id="4" name="card_1"/>
          <p:cNvSpPr/>
          <p:nvPr/>
        </p:nvSpPr>
        <p:spPr>
          <a:xfrm>
            <a:off x="457200" y="1188720"/>
            <a:ext cx="2596896" cy="2514600"/>
          </a:xfrm>
          <a:prstGeom prst="roundRect">
            <a:avLst>
              <a:gd name="adj" fmla="val 2909"/>
            </a:avLst>
          </a:prstGeom>
          <a:solidFill>
            <a:schemeClr val="bg2"/>
          </a:solidFill>
          <a:ln w="12700">
            <a:solidFill>
              <a:schemeClr val="bg2"/>
            </a:solidFill>
            <a:prstDash val="solid"/>
          </a:ln>
        </p:spPr>
      </p:sp>
      <p:sp>
        <p:nvSpPr>
          <p:cNvPr id="5" name="stat_2"/>
          <p:cNvSpPr txBox="1"/>
          <p:nvPr/>
        </p:nvSpPr>
        <p:spPr>
          <a:xfrm>
            <a:off x="685800" y="1463040"/>
            <a:ext cx="2194560" cy="640080"/>
          </a:xfrm>
          <a:prstGeom prst="rect">
            <a:avLst/>
          </a:prstGeom>
          <a:noFill/>
          <a:ln/>
        </p:spPr>
        <p:txBody>
          <a:bodyPr wrap="square" lIns="0" tIns="0" rIns="0" bIns="0" rtlCol="0" anchor="b"/>
          <a:lstStyle/>
          <a:p>
            <a:pPr indent="0" marL="0">
              <a:buNone/>
            </a:pPr>
            <a:r>
              <a:rPr lang="en-US" sz="3400" b="1" dirty="0">
                <a:solidFill>
                  <a:schemeClr val="accent1"/>
                </a:solidFill>
                <a:latin typeface="Cambria" pitchFamily="34" charset="0"/>
                <a:ea typeface="Cambria" pitchFamily="34" charset="-122"/>
                <a:cs typeface="Cambria" pitchFamily="34" charset="-120"/>
              </a:rPr>
              <a:t>₦2.25B</a:t>
            </a:r>
            <a:endParaRPr lang="en-US" sz="3400" dirty="0"/>
          </a:p>
        </p:txBody>
      </p:sp>
      <p:sp>
        <p:nvSpPr>
          <p:cNvPr id="6" name="statlabel_3"/>
          <p:cNvSpPr txBox="1"/>
          <p:nvPr/>
        </p:nvSpPr>
        <p:spPr>
          <a:xfrm>
            <a:off x="685800" y="2148840"/>
            <a:ext cx="2194560" cy="502920"/>
          </a:xfrm>
          <a:prstGeom prst="rect">
            <a:avLst/>
          </a:prstGeom>
          <a:noFill/>
          <a:ln/>
        </p:spPr>
        <p:txBody>
          <a:bodyPr wrap="square" lIns="0" tIns="0" rIns="0" bIns="0" rtlCol="0" anchor="t"/>
          <a:lstStyle/>
          <a:p>
            <a:pPr indent="0" marL="0">
              <a:buNone/>
            </a:pPr>
            <a:r>
              <a:rPr lang="en-US" sz="1400" dirty="0">
                <a:solidFill>
                  <a:schemeClr val="tx1"/>
                </a:solidFill>
              </a:rPr>
              <a:t>revenue from completed orders in 2025</a:t>
            </a:r>
            <a:endParaRPr lang="en-US" sz="1400" dirty="0"/>
          </a:p>
        </p:txBody>
      </p:sp>
      <p:sp>
        <p:nvSpPr>
          <p:cNvPr id="7" name="sub_4"/>
          <p:cNvSpPr txBox="1"/>
          <p:nvPr/>
        </p:nvSpPr>
        <p:spPr>
          <a:xfrm>
            <a:off x="685800" y="2880360"/>
            <a:ext cx="2194560" cy="731520"/>
          </a:xfrm>
          <a:prstGeom prst="rect">
            <a:avLst/>
          </a:prstGeom>
          <a:noFill/>
          <a:ln/>
        </p:spPr>
        <p:txBody>
          <a:bodyPr wrap="square" lIns="0" tIns="0" rIns="0" bIns="0" rtlCol="0" anchor="t"/>
          <a:lstStyle/>
          <a:p>
            <a:pPr indent="0" marL="0">
              <a:buNone/>
            </a:pPr>
            <a:r>
              <a:rPr lang="en-US" sz="1200" dirty="0">
                <a:solidFill>
                  <a:schemeClr val="accent6"/>
                </a:solidFill>
              </a:rPr>
              <a:t>Average order value ₦136K</a:t>
            </a:r>
            <a:endParaRPr lang="en-US" sz="1200" dirty="0"/>
          </a:p>
        </p:txBody>
      </p:sp>
      <p:sp>
        <p:nvSpPr>
          <p:cNvPr id="8" name="card_5"/>
          <p:cNvSpPr/>
          <p:nvPr/>
        </p:nvSpPr>
        <p:spPr>
          <a:xfrm>
            <a:off x="3273552" y="1188720"/>
            <a:ext cx="2596896" cy="2514600"/>
          </a:xfrm>
          <a:prstGeom prst="roundRect">
            <a:avLst>
              <a:gd name="adj" fmla="val 2909"/>
            </a:avLst>
          </a:prstGeom>
          <a:solidFill>
            <a:schemeClr val="bg2"/>
          </a:solidFill>
          <a:ln w="12700">
            <a:solidFill>
              <a:schemeClr val="bg2"/>
            </a:solidFill>
            <a:prstDash val="solid"/>
          </a:ln>
        </p:spPr>
      </p:sp>
      <p:sp>
        <p:nvSpPr>
          <p:cNvPr id="9" name="stat_6"/>
          <p:cNvSpPr txBox="1"/>
          <p:nvPr/>
        </p:nvSpPr>
        <p:spPr>
          <a:xfrm>
            <a:off x="3502152" y="1463040"/>
            <a:ext cx="2194560" cy="640080"/>
          </a:xfrm>
          <a:prstGeom prst="rect">
            <a:avLst/>
          </a:prstGeom>
          <a:noFill/>
          <a:ln/>
        </p:spPr>
        <p:txBody>
          <a:bodyPr wrap="square" lIns="0" tIns="0" rIns="0" bIns="0" rtlCol="0" anchor="b"/>
          <a:lstStyle/>
          <a:p>
            <a:pPr indent="0" marL="0">
              <a:buNone/>
            </a:pPr>
            <a:r>
              <a:rPr lang="en-US" sz="3400" b="1" dirty="0">
                <a:solidFill>
                  <a:schemeClr val="accent4"/>
                </a:solidFill>
                <a:latin typeface="Cambria" pitchFamily="34" charset="0"/>
                <a:ea typeface="Cambria" pitchFamily="34" charset="-122"/>
                <a:cs typeface="Cambria" pitchFamily="34" charset="-120"/>
              </a:rPr>
              <a:t>33%</a:t>
            </a:r>
            <a:endParaRPr lang="en-US" sz="3400" dirty="0"/>
          </a:p>
        </p:txBody>
      </p:sp>
      <p:sp>
        <p:nvSpPr>
          <p:cNvPr id="10" name="statlabel_7"/>
          <p:cNvSpPr txBox="1"/>
          <p:nvPr/>
        </p:nvSpPr>
        <p:spPr>
          <a:xfrm>
            <a:off x="3502152" y="2148840"/>
            <a:ext cx="2194560" cy="502920"/>
          </a:xfrm>
          <a:prstGeom prst="rect">
            <a:avLst/>
          </a:prstGeom>
          <a:noFill/>
          <a:ln/>
        </p:spPr>
        <p:txBody>
          <a:bodyPr wrap="square" lIns="0" tIns="0" rIns="0" bIns="0" rtlCol="0" anchor="t"/>
          <a:lstStyle/>
          <a:p>
            <a:pPr indent="0" marL="0">
              <a:buNone/>
            </a:pPr>
            <a:r>
              <a:rPr lang="en-US" sz="1400" dirty="0">
                <a:solidFill>
                  <a:schemeClr val="tx1"/>
                </a:solidFill>
              </a:rPr>
              <a:t>of orders were completed</a:t>
            </a:r>
            <a:endParaRPr lang="en-US" sz="1400" dirty="0"/>
          </a:p>
        </p:txBody>
      </p:sp>
      <p:sp>
        <p:nvSpPr>
          <p:cNvPr id="11" name="sub_8"/>
          <p:cNvSpPr txBox="1"/>
          <p:nvPr/>
        </p:nvSpPr>
        <p:spPr>
          <a:xfrm>
            <a:off x="3502152" y="2880360"/>
            <a:ext cx="2194560" cy="731520"/>
          </a:xfrm>
          <a:prstGeom prst="rect">
            <a:avLst/>
          </a:prstGeom>
          <a:noFill/>
          <a:ln/>
        </p:spPr>
        <p:txBody>
          <a:bodyPr wrap="square" lIns="0" tIns="0" rIns="0" bIns="0" rtlCol="0" anchor="t"/>
          <a:lstStyle/>
          <a:p>
            <a:pPr indent="0" marL="0">
              <a:buNone/>
            </a:pPr>
            <a:r>
              <a:rPr lang="en-US" sz="1200" dirty="0">
                <a:solidFill>
                  <a:schemeClr val="accent6"/>
                </a:solidFill>
              </a:rPr>
              <a:t>₦4.57B of demand lost to cancelled and pending orders</a:t>
            </a:r>
            <a:endParaRPr lang="en-US" sz="1200" dirty="0"/>
          </a:p>
        </p:txBody>
      </p:sp>
      <p:sp>
        <p:nvSpPr>
          <p:cNvPr id="12" name="card_9"/>
          <p:cNvSpPr/>
          <p:nvPr/>
        </p:nvSpPr>
        <p:spPr>
          <a:xfrm>
            <a:off x="6089904" y="1188720"/>
            <a:ext cx="2596896" cy="2514600"/>
          </a:xfrm>
          <a:prstGeom prst="roundRect">
            <a:avLst>
              <a:gd name="adj" fmla="val 2909"/>
            </a:avLst>
          </a:prstGeom>
          <a:solidFill>
            <a:schemeClr val="bg2"/>
          </a:solidFill>
          <a:ln w="12700">
            <a:solidFill>
              <a:schemeClr val="bg2"/>
            </a:solidFill>
            <a:prstDash val="solid"/>
          </a:ln>
        </p:spPr>
      </p:sp>
      <p:sp>
        <p:nvSpPr>
          <p:cNvPr id="13" name="stat_10"/>
          <p:cNvSpPr txBox="1"/>
          <p:nvPr/>
        </p:nvSpPr>
        <p:spPr>
          <a:xfrm>
            <a:off x="6318504" y="1463040"/>
            <a:ext cx="2194560" cy="640080"/>
          </a:xfrm>
          <a:prstGeom prst="rect">
            <a:avLst/>
          </a:prstGeom>
          <a:noFill/>
          <a:ln/>
        </p:spPr>
        <p:txBody>
          <a:bodyPr wrap="square" lIns="0" tIns="0" rIns="0" bIns="0" rtlCol="0" anchor="b"/>
          <a:lstStyle/>
          <a:p>
            <a:pPr indent="0" marL="0">
              <a:buNone/>
            </a:pPr>
            <a:r>
              <a:rPr lang="en-US" sz="3400" b="1" dirty="0">
                <a:solidFill>
                  <a:schemeClr val="accent4"/>
                </a:solidFill>
                <a:latin typeface="Cambria" pitchFamily="34" charset="0"/>
                <a:ea typeface="Cambria" pitchFamily="34" charset="-122"/>
                <a:cs typeface="Cambria" pitchFamily="34" charset="-120"/>
              </a:rPr>
              <a:t>₦226M</a:t>
            </a:r>
            <a:endParaRPr lang="en-US" sz="3400" dirty="0"/>
          </a:p>
        </p:txBody>
      </p:sp>
      <p:sp>
        <p:nvSpPr>
          <p:cNvPr id="14" name="statlabel_11"/>
          <p:cNvSpPr txBox="1"/>
          <p:nvPr/>
        </p:nvSpPr>
        <p:spPr>
          <a:xfrm>
            <a:off x="6318504" y="2148840"/>
            <a:ext cx="2194560" cy="502920"/>
          </a:xfrm>
          <a:prstGeom prst="rect">
            <a:avLst/>
          </a:prstGeom>
          <a:noFill/>
          <a:ln/>
        </p:spPr>
        <p:txBody>
          <a:bodyPr wrap="square" lIns="0" tIns="0" rIns="0" bIns="0" rtlCol="0" anchor="t"/>
          <a:lstStyle/>
          <a:p>
            <a:pPr indent="0" marL="0">
              <a:buNone/>
            </a:pPr>
            <a:r>
              <a:rPr lang="en-US" sz="1400" dirty="0">
                <a:solidFill>
                  <a:schemeClr val="tx1"/>
                </a:solidFill>
              </a:rPr>
              <a:t>lost on below-cost sales</a:t>
            </a:r>
            <a:endParaRPr lang="en-US" sz="1400" dirty="0"/>
          </a:p>
        </p:txBody>
      </p:sp>
      <p:sp>
        <p:nvSpPr>
          <p:cNvPr id="15" name="sub_12"/>
          <p:cNvSpPr txBox="1"/>
          <p:nvPr/>
        </p:nvSpPr>
        <p:spPr>
          <a:xfrm>
            <a:off x="6318504" y="2880360"/>
            <a:ext cx="2194560" cy="731520"/>
          </a:xfrm>
          <a:prstGeom prst="rect">
            <a:avLst/>
          </a:prstGeom>
          <a:noFill/>
          <a:ln/>
        </p:spPr>
        <p:txBody>
          <a:bodyPr wrap="square" lIns="0" tIns="0" rIns="0" bIns="0" rtlCol="0" anchor="t"/>
          <a:lstStyle/>
          <a:p>
            <a:pPr indent="0" marL="0">
              <a:buNone/>
            </a:pPr>
            <a:r>
              <a:rPr lang="en-US" sz="1200" dirty="0">
                <a:solidFill>
                  <a:schemeClr val="accent6"/>
                </a:solidFill>
              </a:rPr>
              <a:t>27% of completed order lines sold below cost</a:t>
            </a:r>
            <a:endParaRPr lang="en-US" sz="1200" dirty="0"/>
          </a:p>
        </p:txBody>
      </p:sp>
      <p:sp>
        <p:nvSpPr>
          <p:cNvPr id="16" name="takeaway_13"/>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600" i="1" dirty="0">
                <a:solidFill>
                  <a:schemeClr val="tx2"/>
                </a:solidFill>
              </a:rPr>
              <a:t>Everything else (stores, categories, customer segments and months) is remarkably even.</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data was complete but not consistent</a:t>
            </a:r>
            <a:endParaRPr lang="en-US" sz="2600" dirty="0"/>
          </a:p>
        </p:txBody>
      </p:sp>
      <p:sp>
        <p:nvSpPr>
          <p:cNvPr id="4" name="card_14"/>
          <p:cNvSpPr/>
          <p:nvPr/>
        </p:nvSpPr>
        <p:spPr>
          <a:xfrm>
            <a:off x="457200" y="1188720"/>
            <a:ext cx="2596896" cy="1463040"/>
          </a:xfrm>
          <a:prstGeom prst="roundRect">
            <a:avLst>
              <a:gd name="adj" fmla="val 5000"/>
            </a:avLst>
          </a:prstGeom>
          <a:solidFill>
            <a:schemeClr val="bg2"/>
          </a:solidFill>
          <a:ln w="12700">
            <a:solidFill>
              <a:schemeClr val="bg2"/>
            </a:solidFill>
            <a:prstDash val="solid"/>
          </a:ln>
        </p:spPr>
      </p:sp>
      <p:sp>
        <p:nvSpPr>
          <p:cNvPr id="5" name="badge_15"/>
          <p:cNvSpPr/>
          <p:nvPr/>
        </p:nvSpPr>
        <p:spPr>
          <a:xfrm>
            <a:off x="640080" y="1371600"/>
            <a:ext cx="384048" cy="384048"/>
          </a:xfrm>
          <a:prstGeom prst="ellipse">
            <a:avLst/>
          </a:prstGeom>
          <a:solidFill>
            <a:schemeClr val="accent4"/>
          </a:solidFill>
          <a:ln w="12700">
            <a:solidFill>
              <a:schemeClr val="accent4"/>
            </a:solidFill>
            <a:prstDash val="solid"/>
          </a:ln>
        </p:spPr>
      </p:sp>
      <p:sp>
        <p:nvSpPr>
          <p:cNvPr id="6" name="badgenum_16"/>
          <p:cNvSpPr txBox="1"/>
          <p:nvPr/>
        </p:nvSpPr>
        <p:spPr>
          <a:xfrm>
            <a:off x="640080" y="1371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7" name="issue_17"/>
          <p:cNvSpPr txBox="1"/>
          <p:nvPr/>
        </p:nvSpPr>
        <p:spPr>
          <a:xfrm>
            <a:off x="1143000" y="1353312"/>
            <a:ext cx="1783080" cy="420624"/>
          </a:xfrm>
          <a:prstGeom prst="rect">
            <a:avLst/>
          </a:prstGeom>
          <a:noFill/>
          <a:ln/>
        </p:spPr>
        <p:txBody>
          <a:bodyPr wrap="square" lIns="0" tIns="0" rIns="0" bIns="0" rtlCol="0" anchor="ctr"/>
          <a:lstStyle/>
          <a:p>
            <a:pPr indent="0" marL="0">
              <a:buNone/>
            </a:pPr>
            <a:r>
              <a:rPr lang="en-US" sz="1400" b="1" dirty="0">
                <a:solidFill>
                  <a:schemeClr val="tx2"/>
                </a:solidFill>
              </a:rPr>
              <a:t>Discount misapplied</a:t>
            </a:r>
            <a:endParaRPr lang="en-US" sz="1400" dirty="0"/>
          </a:p>
        </p:txBody>
      </p:sp>
      <p:sp>
        <p:nvSpPr>
          <p:cNvPr id="8" name="issuetext_18"/>
          <p:cNvSpPr txBox="1"/>
          <p:nvPr/>
        </p:nvSpPr>
        <p:spPr>
          <a:xfrm>
            <a:off x="640080" y="1874520"/>
            <a:ext cx="2240280" cy="685800"/>
          </a:xfrm>
          <a:prstGeom prst="rect">
            <a:avLst/>
          </a:prstGeom>
          <a:noFill/>
          <a:ln/>
        </p:spPr>
        <p:txBody>
          <a:bodyPr wrap="square" lIns="0" tIns="0" rIns="0" bIns="0" rtlCol="0" anchor="t"/>
          <a:lstStyle/>
          <a:p>
            <a:pPr indent="0" marL="0">
              <a:buNone/>
            </a:pPr>
            <a:r>
              <a:rPr lang="en-US" sz="1200" dirty="0">
                <a:solidFill>
                  <a:schemeClr val="tx1"/>
                </a:solidFill>
              </a:rPr>
              <a:t>0–20% rates subtracted as ₦. Net sales recomputed</a:t>
            </a:r>
            <a:endParaRPr lang="en-US" sz="1200" dirty="0"/>
          </a:p>
        </p:txBody>
      </p:sp>
      <p:sp>
        <p:nvSpPr>
          <p:cNvPr id="9" name="card_19"/>
          <p:cNvSpPr/>
          <p:nvPr/>
        </p:nvSpPr>
        <p:spPr>
          <a:xfrm>
            <a:off x="3273552" y="1188720"/>
            <a:ext cx="2596896" cy="1463040"/>
          </a:xfrm>
          <a:prstGeom prst="roundRect">
            <a:avLst>
              <a:gd name="adj" fmla="val 5000"/>
            </a:avLst>
          </a:prstGeom>
          <a:solidFill>
            <a:schemeClr val="bg2"/>
          </a:solidFill>
          <a:ln w="12700">
            <a:solidFill>
              <a:schemeClr val="bg2"/>
            </a:solidFill>
            <a:prstDash val="solid"/>
          </a:ln>
        </p:spPr>
      </p:sp>
      <p:sp>
        <p:nvSpPr>
          <p:cNvPr id="10" name="badge_20"/>
          <p:cNvSpPr/>
          <p:nvPr/>
        </p:nvSpPr>
        <p:spPr>
          <a:xfrm>
            <a:off x="3456432" y="1371600"/>
            <a:ext cx="384048" cy="384048"/>
          </a:xfrm>
          <a:prstGeom prst="ellipse">
            <a:avLst/>
          </a:prstGeom>
          <a:solidFill>
            <a:schemeClr val="accent4"/>
          </a:solidFill>
          <a:ln w="12700">
            <a:solidFill>
              <a:schemeClr val="accent4"/>
            </a:solidFill>
            <a:prstDash val="solid"/>
          </a:ln>
        </p:spPr>
      </p:sp>
      <p:sp>
        <p:nvSpPr>
          <p:cNvPr id="11" name="badgenum_21"/>
          <p:cNvSpPr txBox="1"/>
          <p:nvPr/>
        </p:nvSpPr>
        <p:spPr>
          <a:xfrm>
            <a:off x="3456432" y="1371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2" name="issue_22"/>
          <p:cNvSpPr txBox="1"/>
          <p:nvPr/>
        </p:nvSpPr>
        <p:spPr>
          <a:xfrm>
            <a:off x="3959352" y="1353312"/>
            <a:ext cx="1783080" cy="420624"/>
          </a:xfrm>
          <a:prstGeom prst="rect">
            <a:avLst/>
          </a:prstGeom>
          <a:noFill/>
          <a:ln/>
        </p:spPr>
        <p:txBody>
          <a:bodyPr wrap="square" lIns="0" tIns="0" rIns="0" bIns="0" rtlCol="0" anchor="ctr"/>
          <a:lstStyle/>
          <a:p>
            <a:pPr indent="0" marL="0">
              <a:buNone/>
            </a:pPr>
            <a:r>
              <a:rPr lang="en-US" sz="1400" b="1" dirty="0">
                <a:solidFill>
                  <a:schemeClr val="tx2"/>
                </a:solidFill>
              </a:rPr>
              <a:t>Region contradicts state</a:t>
            </a:r>
            <a:endParaRPr lang="en-US" sz="1400" dirty="0"/>
          </a:p>
        </p:txBody>
      </p:sp>
      <p:sp>
        <p:nvSpPr>
          <p:cNvPr id="13" name="issuetext_23"/>
          <p:cNvSpPr txBox="1"/>
          <p:nvPr/>
        </p:nvSpPr>
        <p:spPr>
          <a:xfrm>
            <a:off x="3456432" y="1874520"/>
            <a:ext cx="2240280" cy="685800"/>
          </a:xfrm>
          <a:prstGeom prst="rect">
            <a:avLst/>
          </a:prstGeom>
          <a:noFill/>
          <a:ln/>
        </p:spPr>
        <p:txBody>
          <a:bodyPr wrap="square" lIns="0" tIns="0" rIns="0" bIns="0" rtlCol="0" anchor="t"/>
          <a:lstStyle/>
          <a:p>
            <a:pPr indent="0" marL="0">
              <a:buNone/>
            </a:pPr>
            <a:r>
              <a:rPr lang="en-US" sz="1200" dirty="0">
                <a:solidFill>
                  <a:schemeClr val="tx1"/>
                </a:solidFill>
              </a:rPr>
              <a:t>Lagos in all 4 regions. Replaced with geopolitical zone</a:t>
            </a:r>
            <a:endParaRPr lang="en-US" sz="1200" dirty="0"/>
          </a:p>
        </p:txBody>
      </p:sp>
      <p:sp>
        <p:nvSpPr>
          <p:cNvPr id="14" name="card_24"/>
          <p:cNvSpPr/>
          <p:nvPr/>
        </p:nvSpPr>
        <p:spPr>
          <a:xfrm>
            <a:off x="6089904" y="1188720"/>
            <a:ext cx="2596896" cy="1463040"/>
          </a:xfrm>
          <a:prstGeom prst="roundRect">
            <a:avLst>
              <a:gd name="adj" fmla="val 5000"/>
            </a:avLst>
          </a:prstGeom>
          <a:solidFill>
            <a:schemeClr val="bg2"/>
          </a:solidFill>
          <a:ln w="12700">
            <a:solidFill>
              <a:schemeClr val="bg2"/>
            </a:solidFill>
            <a:prstDash val="solid"/>
          </a:ln>
        </p:spPr>
      </p:sp>
      <p:sp>
        <p:nvSpPr>
          <p:cNvPr id="15" name="badge_25"/>
          <p:cNvSpPr/>
          <p:nvPr/>
        </p:nvSpPr>
        <p:spPr>
          <a:xfrm>
            <a:off x="6272784" y="1371600"/>
            <a:ext cx="384048" cy="384048"/>
          </a:xfrm>
          <a:prstGeom prst="ellipse">
            <a:avLst/>
          </a:prstGeom>
          <a:solidFill>
            <a:schemeClr val="accent4"/>
          </a:solidFill>
          <a:ln w="12700">
            <a:solidFill>
              <a:schemeClr val="accent4"/>
            </a:solidFill>
            <a:prstDash val="solid"/>
          </a:ln>
        </p:spPr>
      </p:sp>
      <p:sp>
        <p:nvSpPr>
          <p:cNvPr id="16" name="badgenum_26"/>
          <p:cNvSpPr txBox="1"/>
          <p:nvPr/>
        </p:nvSpPr>
        <p:spPr>
          <a:xfrm>
            <a:off x="6272784" y="137160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7" name="issue_27"/>
          <p:cNvSpPr txBox="1"/>
          <p:nvPr/>
        </p:nvSpPr>
        <p:spPr>
          <a:xfrm>
            <a:off x="6775704" y="1353312"/>
            <a:ext cx="1783080" cy="420624"/>
          </a:xfrm>
          <a:prstGeom prst="rect">
            <a:avLst/>
          </a:prstGeom>
          <a:noFill/>
          <a:ln/>
        </p:spPr>
        <p:txBody>
          <a:bodyPr wrap="square" lIns="0" tIns="0" rIns="0" bIns="0" rtlCol="0" anchor="ctr"/>
          <a:lstStyle/>
          <a:p>
            <a:pPr indent="0" marL="0">
              <a:buNone/>
            </a:pPr>
            <a:r>
              <a:rPr lang="en-US" sz="1400" b="1" dirty="0">
                <a:solidFill>
                  <a:schemeClr val="tx2"/>
                </a:solidFill>
              </a:rPr>
              <a:t>Impossible returns</a:t>
            </a:r>
            <a:endParaRPr lang="en-US" sz="1400" dirty="0"/>
          </a:p>
        </p:txBody>
      </p:sp>
      <p:sp>
        <p:nvSpPr>
          <p:cNvPr id="18" name="issuetext_28"/>
          <p:cNvSpPr txBox="1"/>
          <p:nvPr/>
        </p:nvSpPr>
        <p:spPr>
          <a:xfrm>
            <a:off x="6272784" y="1874520"/>
            <a:ext cx="2240280" cy="685800"/>
          </a:xfrm>
          <a:prstGeom prst="rect">
            <a:avLst/>
          </a:prstGeom>
          <a:noFill/>
          <a:ln/>
        </p:spPr>
        <p:txBody>
          <a:bodyPr wrap="square" lIns="0" tIns="0" rIns="0" bIns="0" rtlCol="0" anchor="t"/>
          <a:lstStyle/>
          <a:p>
            <a:pPr indent="0" marL="0">
              <a:buNone/>
            </a:pPr>
            <a:r>
              <a:rPr lang="en-US" sz="1200" dirty="0">
                <a:solidFill>
                  <a:schemeClr val="tx1"/>
                </a:solidFill>
              </a:rPr>
              <a:t>50% dated before the order. Flagged, not deleted</a:t>
            </a:r>
            <a:endParaRPr lang="en-US" sz="1200" dirty="0"/>
          </a:p>
        </p:txBody>
      </p:sp>
      <p:sp>
        <p:nvSpPr>
          <p:cNvPr id="19" name="card_29"/>
          <p:cNvSpPr/>
          <p:nvPr/>
        </p:nvSpPr>
        <p:spPr>
          <a:xfrm>
            <a:off x="457200" y="2880360"/>
            <a:ext cx="2596896" cy="1463040"/>
          </a:xfrm>
          <a:prstGeom prst="roundRect">
            <a:avLst>
              <a:gd name="adj" fmla="val 5000"/>
            </a:avLst>
          </a:prstGeom>
          <a:solidFill>
            <a:schemeClr val="bg2"/>
          </a:solidFill>
          <a:ln w="12700">
            <a:solidFill>
              <a:schemeClr val="bg2"/>
            </a:solidFill>
            <a:prstDash val="solid"/>
          </a:ln>
        </p:spPr>
      </p:sp>
      <p:sp>
        <p:nvSpPr>
          <p:cNvPr id="20" name="badge_30"/>
          <p:cNvSpPr/>
          <p:nvPr/>
        </p:nvSpPr>
        <p:spPr>
          <a:xfrm>
            <a:off x="640080" y="3063240"/>
            <a:ext cx="384048" cy="384048"/>
          </a:xfrm>
          <a:prstGeom prst="ellipse">
            <a:avLst/>
          </a:prstGeom>
          <a:solidFill>
            <a:schemeClr val="accent1"/>
          </a:solidFill>
          <a:ln w="12700">
            <a:solidFill>
              <a:schemeClr val="accent1"/>
            </a:solidFill>
            <a:prstDash val="solid"/>
          </a:ln>
        </p:spPr>
      </p:sp>
      <p:sp>
        <p:nvSpPr>
          <p:cNvPr id="21" name="badgenum_31"/>
          <p:cNvSpPr txBox="1"/>
          <p:nvPr/>
        </p:nvSpPr>
        <p:spPr>
          <a:xfrm>
            <a:off x="640080" y="3063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22" name="issue_32"/>
          <p:cNvSpPr txBox="1"/>
          <p:nvPr/>
        </p:nvSpPr>
        <p:spPr>
          <a:xfrm>
            <a:off x="1143000" y="3044952"/>
            <a:ext cx="1783080" cy="420624"/>
          </a:xfrm>
          <a:prstGeom prst="rect">
            <a:avLst/>
          </a:prstGeom>
          <a:noFill/>
          <a:ln/>
        </p:spPr>
        <p:txBody>
          <a:bodyPr wrap="square" lIns="0" tIns="0" rIns="0" bIns="0" rtlCol="0" anchor="ctr"/>
          <a:lstStyle/>
          <a:p>
            <a:pPr indent="0" marL="0">
              <a:buNone/>
            </a:pPr>
            <a:r>
              <a:rPr lang="en-US" sz="1400" b="1" dirty="0">
                <a:solidFill>
                  <a:schemeClr val="tx2"/>
                </a:solidFill>
              </a:rPr>
              <a:t>Store names repeat</a:t>
            </a:r>
            <a:endParaRPr lang="en-US" sz="1400" dirty="0"/>
          </a:p>
        </p:txBody>
      </p:sp>
      <p:sp>
        <p:nvSpPr>
          <p:cNvPr id="23" name="issuetext_33"/>
          <p:cNvSpPr txBox="1"/>
          <p:nvPr/>
        </p:nvSpPr>
        <p:spPr>
          <a:xfrm>
            <a:off x="640080" y="3566160"/>
            <a:ext cx="2240280" cy="685800"/>
          </a:xfrm>
          <a:prstGeom prst="rect">
            <a:avLst/>
          </a:prstGeom>
          <a:noFill/>
          <a:ln/>
        </p:spPr>
        <p:txBody>
          <a:bodyPr wrap="square" lIns="0" tIns="0" rIns="0" bIns="0" rtlCol="0" anchor="t"/>
          <a:lstStyle/>
          <a:p>
            <a:pPr indent="0" marL="0">
              <a:buNone/>
            </a:pPr>
            <a:r>
              <a:rPr lang="en-US" sz="1200" dirty="0">
                <a:solidFill>
                  <a:schemeClr val="tx1"/>
                </a:solidFill>
              </a:rPr>
              <a:t>25 stores, 10 names. Unique store labels added</a:t>
            </a:r>
            <a:endParaRPr lang="en-US" sz="1200" dirty="0"/>
          </a:p>
        </p:txBody>
      </p:sp>
      <p:sp>
        <p:nvSpPr>
          <p:cNvPr id="24" name="card_34"/>
          <p:cNvSpPr/>
          <p:nvPr/>
        </p:nvSpPr>
        <p:spPr>
          <a:xfrm>
            <a:off x="3273552" y="2880360"/>
            <a:ext cx="2596896" cy="1463040"/>
          </a:xfrm>
          <a:prstGeom prst="roundRect">
            <a:avLst>
              <a:gd name="adj" fmla="val 5000"/>
            </a:avLst>
          </a:prstGeom>
          <a:solidFill>
            <a:schemeClr val="bg2"/>
          </a:solidFill>
          <a:ln w="12700">
            <a:solidFill>
              <a:schemeClr val="bg2"/>
            </a:solidFill>
            <a:prstDash val="solid"/>
          </a:ln>
        </p:spPr>
      </p:sp>
      <p:sp>
        <p:nvSpPr>
          <p:cNvPr id="25" name="badge_35"/>
          <p:cNvSpPr/>
          <p:nvPr/>
        </p:nvSpPr>
        <p:spPr>
          <a:xfrm>
            <a:off x="3456432" y="3063240"/>
            <a:ext cx="384048" cy="384048"/>
          </a:xfrm>
          <a:prstGeom prst="ellipse">
            <a:avLst/>
          </a:prstGeom>
          <a:solidFill>
            <a:schemeClr val="accent1"/>
          </a:solidFill>
          <a:ln w="12700">
            <a:solidFill>
              <a:schemeClr val="accent1"/>
            </a:solidFill>
            <a:prstDash val="solid"/>
          </a:ln>
        </p:spPr>
      </p:sp>
      <p:sp>
        <p:nvSpPr>
          <p:cNvPr id="26" name="badgenum_36"/>
          <p:cNvSpPr txBox="1"/>
          <p:nvPr/>
        </p:nvSpPr>
        <p:spPr>
          <a:xfrm>
            <a:off x="3456432" y="3063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7" name="issue_37"/>
          <p:cNvSpPr txBox="1"/>
          <p:nvPr/>
        </p:nvSpPr>
        <p:spPr>
          <a:xfrm>
            <a:off x="3959352" y="3044952"/>
            <a:ext cx="1783080" cy="420624"/>
          </a:xfrm>
          <a:prstGeom prst="rect">
            <a:avLst/>
          </a:prstGeom>
          <a:noFill/>
          <a:ln/>
        </p:spPr>
        <p:txBody>
          <a:bodyPr wrap="square" lIns="0" tIns="0" rIns="0" bIns="0" rtlCol="0" anchor="ctr"/>
          <a:lstStyle/>
          <a:p>
            <a:pPr indent="0" marL="0">
              <a:buNone/>
            </a:pPr>
            <a:r>
              <a:rPr lang="en-US" sz="1400" b="1" dirty="0">
                <a:solidFill>
                  <a:schemeClr val="tx2"/>
                </a:solidFill>
              </a:rPr>
              <a:t>Duplicate tables</a:t>
            </a:r>
            <a:endParaRPr lang="en-US" sz="1400" dirty="0"/>
          </a:p>
        </p:txBody>
      </p:sp>
      <p:sp>
        <p:nvSpPr>
          <p:cNvPr id="28" name="issuetext_38"/>
          <p:cNvSpPr txBox="1"/>
          <p:nvPr/>
        </p:nvSpPr>
        <p:spPr>
          <a:xfrm>
            <a:off x="3456432" y="3566160"/>
            <a:ext cx="2240280" cy="685800"/>
          </a:xfrm>
          <a:prstGeom prst="rect">
            <a:avLst/>
          </a:prstGeom>
          <a:noFill/>
          <a:ln/>
        </p:spPr>
        <p:txBody>
          <a:bodyPr wrap="square" lIns="0" tIns="0" rIns="0" bIns="0" rtlCol="0" anchor="t"/>
          <a:lstStyle/>
          <a:p>
            <a:pPr indent="0" marL="0">
              <a:buNone/>
            </a:pPr>
            <a:r>
              <a:rPr lang="en-US" sz="1200" dirty="0">
                <a:solidFill>
                  <a:schemeClr val="tx1"/>
                </a:solidFill>
              </a:rPr>
              <a:t>Order_Items = Orders row for row. One fact table used</a:t>
            </a:r>
            <a:endParaRPr lang="en-US" sz="1200" dirty="0"/>
          </a:p>
        </p:txBody>
      </p:sp>
      <p:sp>
        <p:nvSpPr>
          <p:cNvPr id="29" name="card_39"/>
          <p:cNvSpPr/>
          <p:nvPr/>
        </p:nvSpPr>
        <p:spPr>
          <a:xfrm>
            <a:off x="6089904" y="2880360"/>
            <a:ext cx="2596896" cy="1463040"/>
          </a:xfrm>
          <a:prstGeom prst="roundRect">
            <a:avLst>
              <a:gd name="adj" fmla="val 5000"/>
            </a:avLst>
          </a:prstGeom>
          <a:solidFill>
            <a:schemeClr val="bg2"/>
          </a:solidFill>
          <a:ln w="12700">
            <a:solidFill>
              <a:schemeClr val="bg2"/>
            </a:solidFill>
            <a:prstDash val="solid"/>
          </a:ln>
        </p:spPr>
      </p:sp>
      <p:sp>
        <p:nvSpPr>
          <p:cNvPr id="30" name="badge_40"/>
          <p:cNvSpPr/>
          <p:nvPr/>
        </p:nvSpPr>
        <p:spPr>
          <a:xfrm>
            <a:off x="6272784" y="3063240"/>
            <a:ext cx="384048" cy="384048"/>
          </a:xfrm>
          <a:prstGeom prst="ellipse">
            <a:avLst/>
          </a:prstGeom>
          <a:solidFill>
            <a:schemeClr val="accent1"/>
          </a:solidFill>
          <a:ln w="12700">
            <a:solidFill>
              <a:schemeClr val="accent1"/>
            </a:solidFill>
            <a:prstDash val="solid"/>
          </a:ln>
        </p:spPr>
      </p:sp>
      <p:sp>
        <p:nvSpPr>
          <p:cNvPr id="31" name="badgenum_41"/>
          <p:cNvSpPr txBox="1"/>
          <p:nvPr/>
        </p:nvSpPr>
        <p:spPr>
          <a:xfrm>
            <a:off x="6272784" y="3063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6</a:t>
            </a:r>
            <a:endParaRPr lang="en-US" sz="1500" dirty="0"/>
          </a:p>
        </p:txBody>
      </p:sp>
      <p:sp>
        <p:nvSpPr>
          <p:cNvPr id="32" name="issue_42"/>
          <p:cNvSpPr txBox="1"/>
          <p:nvPr/>
        </p:nvSpPr>
        <p:spPr>
          <a:xfrm>
            <a:off x="6775704" y="3044952"/>
            <a:ext cx="1783080" cy="420624"/>
          </a:xfrm>
          <a:prstGeom prst="rect">
            <a:avLst/>
          </a:prstGeom>
          <a:noFill/>
          <a:ln/>
        </p:spPr>
        <p:txBody>
          <a:bodyPr wrap="square" lIns="0" tIns="0" rIns="0" bIns="0" rtlCol="0" anchor="ctr"/>
          <a:lstStyle/>
          <a:p>
            <a:pPr indent="0" marL="0">
              <a:buNone/>
            </a:pPr>
            <a:r>
              <a:rPr lang="en-US" sz="1400" b="1" dirty="0">
                <a:solidFill>
                  <a:schemeClr val="tx2"/>
                </a:solidFill>
              </a:rPr>
              <a:t>No supplier key</a:t>
            </a:r>
            <a:endParaRPr lang="en-US" sz="1400" dirty="0"/>
          </a:p>
        </p:txBody>
      </p:sp>
      <p:sp>
        <p:nvSpPr>
          <p:cNvPr id="33" name="issuetext_43"/>
          <p:cNvSpPr txBox="1"/>
          <p:nvPr/>
        </p:nvSpPr>
        <p:spPr>
          <a:xfrm>
            <a:off x="6272784" y="3566160"/>
            <a:ext cx="2240280" cy="685800"/>
          </a:xfrm>
          <a:prstGeom prst="rect">
            <a:avLst/>
          </a:prstGeom>
          <a:noFill/>
          <a:ln/>
        </p:spPr>
        <p:txBody>
          <a:bodyPr wrap="square" lIns="0" tIns="0" rIns="0" bIns="0" rtlCol="0" anchor="t"/>
          <a:lstStyle/>
          <a:p>
            <a:pPr indent="0" marL="0">
              <a:buNone/>
            </a:pPr>
            <a:r>
              <a:rPr lang="en-US" sz="1200" dirty="0">
                <a:solidFill>
                  <a:schemeClr val="tx1"/>
                </a:solidFill>
              </a:rPr>
              <a:t>Linked via brand → '&lt;Brand&gt; Supplies' (100% match)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2025 at a glance</a:t>
            </a:r>
            <a:endParaRPr lang="en-US" sz="2600" dirty="0"/>
          </a:p>
        </p:txBody>
      </p:sp>
      <p:sp>
        <p:nvSpPr>
          <p:cNvPr id="4" name="card_44"/>
          <p:cNvSpPr/>
          <p:nvPr/>
        </p:nvSpPr>
        <p:spPr>
          <a:xfrm>
            <a:off x="457200" y="1188720"/>
            <a:ext cx="2596896" cy="1463040"/>
          </a:xfrm>
          <a:prstGeom prst="roundRect">
            <a:avLst>
              <a:gd name="adj" fmla="val 5000"/>
            </a:avLst>
          </a:prstGeom>
          <a:solidFill>
            <a:schemeClr val="bg2"/>
          </a:solidFill>
          <a:ln w="12700">
            <a:solidFill>
              <a:schemeClr val="bg2"/>
            </a:solidFill>
            <a:prstDash val="solid"/>
          </a:ln>
        </p:spPr>
      </p:sp>
      <p:sp>
        <p:nvSpPr>
          <p:cNvPr id="5" name="stat_45"/>
          <p:cNvSpPr txBox="1"/>
          <p:nvPr/>
        </p:nvSpPr>
        <p:spPr>
          <a:xfrm>
            <a:off x="685800" y="1371600"/>
            <a:ext cx="2194560" cy="64008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₦2.25B</a:t>
            </a:r>
            <a:endParaRPr lang="en-US" sz="3000" dirty="0"/>
          </a:p>
        </p:txBody>
      </p:sp>
      <p:sp>
        <p:nvSpPr>
          <p:cNvPr id="6" name="statlabel_46"/>
          <p:cNvSpPr txBox="1"/>
          <p:nvPr/>
        </p:nvSpPr>
        <p:spPr>
          <a:xfrm>
            <a:off x="685800" y="2057400"/>
            <a:ext cx="2194560" cy="502920"/>
          </a:xfrm>
          <a:prstGeom prst="rect">
            <a:avLst/>
          </a:prstGeom>
          <a:noFill/>
          <a:ln/>
        </p:spPr>
        <p:txBody>
          <a:bodyPr wrap="square" lIns="0" tIns="0" rIns="0" bIns="0" rtlCol="0" anchor="t"/>
          <a:lstStyle/>
          <a:p>
            <a:pPr indent="0" marL="0">
              <a:buNone/>
            </a:pPr>
            <a:r>
              <a:rPr lang="en-US" sz="1300" dirty="0">
                <a:solidFill>
                  <a:schemeClr val="tx1"/>
                </a:solidFill>
              </a:rPr>
              <a:t>Total revenue (completed)</a:t>
            </a:r>
            <a:endParaRPr lang="en-US" sz="1300" dirty="0"/>
          </a:p>
        </p:txBody>
      </p:sp>
      <p:sp>
        <p:nvSpPr>
          <p:cNvPr id="7" name="card_47"/>
          <p:cNvSpPr/>
          <p:nvPr/>
        </p:nvSpPr>
        <p:spPr>
          <a:xfrm>
            <a:off x="3273552" y="1188720"/>
            <a:ext cx="2596896" cy="1463040"/>
          </a:xfrm>
          <a:prstGeom prst="roundRect">
            <a:avLst>
              <a:gd name="adj" fmla="val 5000"/>
            </a:avLst>
          </a:prstGeom>
          <a:solidFill>
            <a:schemeClr val="bg2"/>
          </a:solidFill>
          <a:ln w="12700">
            <a:solidFill>
              <a:schemeClr val="bg2"/>
            </a:solidFill>
            <a:prstDash val="solid"/>
          </a:ln>
        </p:spPr>
      </p:sp>
      <p:sp>
        <p:nvSpPr>
          <p:cNvPr id="8" name="stat_48"/>
          <p:cNvSpPr txBox="1"/>
          <p:nvPr/>
        </p:nvSpPr>
        <p:spPr>
          <a:xfrm>
            <a:off x="3502152" y="1371600"/>
            <a:ext cx="2194560" cy="64008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16,529</a:t>
            </a:r>
            <a:endParaRPr lang="en-US" sz="3000" dirty="0"/>
          </a:p>
        </p:txBody>
      </p:sp>
      <p:sp>
        <p:nvSpPr>
          <p:cNvPr id="9" name="statlabel_49"/>
          <p:cNvSpPr txBox="1"/>
          <p:nvPr/>
        </p:nvSpPr>
        <p:spPr>
          <a:xfrm>
            <a:off x="3502152" y="2057400"/>
            <a:ext cx="2194560" cy="502920"/>
          </a:xfrm>
          <a:prstGeom prst="rect">
            <a:avLst/>
          </a:prstGeom>
          <a:noFill/>
          <a:ln/>
        </p:spPr>
        <p:txBody>
          <a:bodyPr wrap="square" lIns="0" tIns="0" rIns="0" bIns="0" rtlCol="0" anchor="t"/>
          <a:lstStyle/>
          <a:p>
            <a:pPr indent="0" marL="0">
              <a:buNone/>
            </a:pPr>
            <a:r>
              <a:rPr lang="en-US" sz="1300" dirty="0">
                <a:solidFill>
                  <a:schemeClr val="tx1"/>
                </a:solidFill>
              </a:rPr>
              <a:t>Completed orders (of 50,000)</a:t>
            </a:r>
            <a:endParaRPr lang="en-US" sz="1300" dirty="0"/>
          </a:p>
        </p:txBody>
      </p:sp>
      <p:sp>
        <p:nvSpPr>
          <p:cNvPr id="10" name="card_50"/>
          <p:cNvSpPr/>
          <p:nvPr/>
        </p:nvSpPr>
        <p:spPr>
          <a:xfrm>
            <a:off x="6089904" y="1188720"/>
            <a:ext cx="2596896" cy="1463040"/>
          </a:xfrm>
          <a:prstGeom prst="roundRect">
            <a:avLst>
              <a:gd name="adj" fmla="val 5000"/>
            </a:avLst>
          </a:prstGeom>
          <a:solidFill>
            <a:schemeClr val="bg2"/>
          </a:solidFill>
          <a:ln w="12700">
            <a:solidFill>
              <a:schemeClr val="bg2"/>
            </a:solidFill>
            <a:prstDash val="solid"/>
          </a:ln>
        </p:spPr>
      </p:sp>
      <p:sp>
        <p:nvSpPr>
          <p:cNvPr id="11" name="stat_51"/>
          <p:cNvSpPr txBox="1"/>
          <p:nvPr/>
        </p:nvSpPr>
        <p:spPr>
          <a:xfrm>
            <a:off x="6318504" y="1371600"/>
            <a:ext cx="2194560" cy="64008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₦136K</a:t>
            </a:r>
            <a:endParaRPr lang="en-US" sz="3000" dirty="0"/>
          </a:p>
        </p:txBody>
      </p:sp>
      <p:sp>
        <p:nvSpPr>
          <p:cNvPr id="12" name="statlabel_52"/>
          <p:cNvSpPr txBox="1"/>
          <p:nvPr/>
        </p:nvSpPr>
        <p:spPr>
          <a:xfrm>
            <a:off x="6318504" y="2057400"/>
            <a:ext cx="2194560" cy="502920"/>
          </a:xfrm>
          <a:prstGeom prst="rect">
            <a:avLst/>
          </a:prstGeom>
          <a:noFill/>
          <a:ln/>
        </p:spPr>
        <p:txBody>
          <a:bodyPr wrap="square" lIns="0" tIns="0" rIns="0" bIns="0" rtlCol="0" anchor="t"/>
          <a:lstStyle/>
          <a:p>
            <a:pPr indent="0" marL="0">
              <a:buNone/>
            </a:pPr>
            <a:r>
              <a:rPr lang="en-US" sz="1300" dirty="0">
                <a:solidFill>
                  <a:schemeClr val="tx1"/>
                </a:solidFill>
              </a:rPr>
              <a:t>Average order value</a:t>
            </a:r>
            <a:endParaRPr lang="en-US" sz="1300" dirty="0"/>
          </a:p>
        </p:txBody>
      </p:sp>
      <p:sp>
        <p:nvSpPr>
          <p:cNvPr id="13" name="card_53"/>
          <p:cNvSpPr/>
          <p:nvPr/>
        </p:nvSpPr>
        <p:spPr>
          <a:xfrm>
            <a:off x="457200" y="2880360"/>
            <a:ext cx="2596896" cy="1463040"/>
          </a:xfrm>
          <a:prstGeom prst="roundRect">
            <a:avLst>
              <a:gd name="adj" fmla="val 5000"/>
            </a:avLst>
          </a:prstGeom>
          <a:solidFill>
            <a:schemeClr val="bg2"/>
          </a:solidFill>
          <a:ln w="12700">
            <a:solidFill>
              <a:schemeClr val="bg2"/>
            </a:solidFill>
            <a:prstDash val="solid"/>
          </a:ln>
        </p:spPr>
      </p:sp>
      <p:sp>
        <p:nvSpPr>
          <p:cNvPr id="14" name="stat_54"/>
          <p:cNvSpPr txBox="1"/>
          <p:nvPr/>
        </p:nvSpPr>
        <p:spPr>
          <a:xfrm>
            <a:off x="685800" y="3063240"/>
            <a:ext cx="2194560" cy="64008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4,795</a:t>
            </a:r>
            <a:endParaRPr lang="en-US" sz="3000" dirty="0"/>
          </a:p>
        </p:txBody>
      </p:sp>
      <p:sp>
        <p:nvSpPr>
          <p:cNvPr id="15" name="statlabel_55"/>
          <p:cNvSpPr txBox="1"/>
          <p:nvPr/>
        </p:nvSpPr>
        <p:spPr>
          <a:xfrm>
            <a:off x="685800" y="3749040"/>
            <a:ext cx="2194560" cy="502920"/>
          </a:xfrm>
          <a:prstGeom prst="rect">
            <a:avLst/>
          </a:prstGeom>
          <a:noFill/>
          <a:ln/>
        </p:spPr>
        <p:txBody>
          <a:bodyPr wrap="square" lIns="0" tIns="0" rIns="0" bIns="0" rtlCol="0" anchor="t"/>
          <a:lstStyle/>
          <a:p>
            <a:pPr indent="0" marL="0">
              <a:buNone/>
            </a:pPr>
            <a:r>
              <a:rPr lang="en-US" sz="1300" dirty="0">
                <a:solidFill>
                  <a:schemeClr val="tx1"/>
                </a:solidFill>
              </a:rPr>
              <a:t>Active customers (of 5,000)</a:t>
            </a:r>
            <a:endParaRPr lang="en-US" sz="1300" dirty="0"/>
          </a:p>
        </p:txBody>
      </p:sp>
      <p:sp>
        <p:nvSpPr>
          <p:cNvPr id="16" name="card_56"/>
          <p:cNvSpPr/>
          <p:nvPr/>
        </p:nvSpPr>
        <p:spPr>
          <a:xfrm>
            <a:off x="3273552" y="2880360"/>
            <a:ext cx="2596896" cy="1463040"/>
          </a:xfrm>
          <a:prstGeom prst="roundRect">
            <a:avLst>
              <a:gd name="adj" fmla="val 5000"/>
            </a:avLst>
          </a:prstGeom>
          <a:solidFill>
            <a:schemeClr val="bg2"/>
          </a:solidFill>
          <a:ln w="12700">
            <a:solidFill>
              <a:schemeClr val="bg2"/>
            </a:solidFill>
            <a:prstDash val="solid"/>
          </a:ln>
        </p:spPr>
      </p:sp>
      <p:sp>
        <p:nvSpPr>
          <p:cNvPr id="17" name="stat_57"/>
          <p:cNvSpPr txBox="1"/>
          <p:nvPr/>
        </p:nvSpPr>
        <p:spPr>
          <a:xfrm>
            <a:off x="3502152" y="3063240"/>
            <a:ext cx="2194560" cy="64008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4.88%</a:t>
            </a:r>
            <a:endParaRPr lang="en-US" sz="3000" dirty="0"/>
          </a:p>
        </p:txBody>
      </p:sp>
      <p:sp>
        <p:nvSpPr>
          <p:cNvPr id="18" name="statlabel_58"/>
          <p:cNvSpPr txBox="1"/>
          <p:nvPr/>
        </p:nvSpPr>
        <p:spPr>
          <a:xfrm>
            <a:off x="3502152" y="3749040"/>
            <a:ext cx="2194560" cy="502920"/>
          </a:xfrm>
          <a:prstGeom prst="rect">
            <a:avLst/>
          </a:prstGeom>
          <a:noFill/>
          <a:ln/>
        </p:spPr>
        <p:txBody>
          <a:bodyPr wrap="square" lIns="0" tIns="0" rIns="0" bIns="0" rtlCol="0" anchor="t"/>
          <a:lstStyle/>
          <a:p>
            <a:pPr indent="0" marL="0">
              <a:buNone/>
            </a:pPr>
            <a:r>
              <a:rPr lang="en-US" sz="1300" dirty="0">
                <a:solidFill>
                  <a:schemeClr val="tx1"/>
                </a:solidFill>
              </a:rPr>
              <a:t>Return rate</a:t>
            </a:r>
            <a:endParaRPr lang="en-US" sz="1300" dirty="0"/>
          </a:p>
        </p:txBody>
      </p:sp>
      <p:sp>
        <p:nvSpPr>
          <p:cNvPr id="19" name="card_59"/>
          <p:cNvSpPr/>
          <p:nvPr/>
        </p:nvSpPr>
        <p:spPr>
          <a:xfrm>
            <a:off x="6089904" y="2880360"/>
            <a:ext cx="2596896" cy="1463040"/>
          </a:xfrm>
          <a:prstGeom prst="roundRect">
            <a:avLst>
              <a:gd name="adj" fmla="val 5000"/>
            </a:avLst>
          </a:prstGeom>
          <a:solidFill>
            <a:schemeClr val="bg2"/>
          </a:solidFill>
          <a:ln w="12700">
            <a:solidFill>
              <a:schemeClr val="bg2"/>
            </a:solidFill>
            <a:prstDash val="solid"/>
          </a:ln>
        </p:spPr>
      </p:sp>
      <p:sp>
        <p:nvSpPr>
          <p:cNvPr id="20" name="stat_60"/>
          <p:cNvSpPr txBox="1"/>
          <p:nvPr/>
        </p:nvSpPr>
        <p:spPr>
          <a:xfrm>
            <a:off x="6318504" y="3063240"/>
            <a:ext cx="2194560" cy="640080"/>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₦3.17B</a:t>
            </a:r>
            <a:endParaRPr lang="en-US" sz="3000" dirty="0"/>
          </a:p>
        </p:txBody>
      </p:sp>
      <p:sp>
        <p:nvSpPr>
          <p:cNvPr id="21" name="statlabel_61"/>
          <p:cNvSpPr txBox="1"/>
          <p:nvPr/>
        </p:nvSpPr>
        <p:spPr>
          <a:xfrm>
            <a:off x="6318504" y="3749040"/>
            <a:ext cx="2194560" cy="502920"/>
          </a:xfrm>
          <a:prstGeom prst="rect">
            <a:avLst/>
          </a:prstGeom>
          <a:noFill/>
          <a:ln/>
        </p:spPr>
        <p:txBody>
          <a:bodyPr wrap="square" lIns="0" tIns="0" rIns="0" bIns="0" rtlCol="0" anchor="t"/>
          <a:lstStyle/>
          <a:p>
            <a:pPr indent="0" marL="0">
              <a:buNone/>
            </a:pPr>
            <a:r>
              <a:rPr lang="en-US" sz="1300" dirty="0">
                <a:solidFill>
                  <a:schemeClr val="tx1"/>
                </a:solidFill>
              </a:rPr>
              <a:t>Inventory value at cost</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Cancelled and pending orders hold ₦4.57B of demand</a:t>
            </a:r>
            <a:endParaRPr lang="en-US" sz="2600" dirty="0"/>
          </a:p>
        </p:txBody>
      </p:sp>
      <p:graphicFrame>
        <p:nvGraphicFramePr>
          <p:cNvPr id="4" name="chart_62" descr=""/>
          <p:cNvGraphicFramePr/>
          <p:nvPr/>
        </p:nvGraphicFramePr>
        <p:xfrm>
          <a:off x="457200" y="1143000"/>
          <a:ext cx="5120640" cy="3429000"/>
        </p:xfrm>
        <a:graphic xmlns:a="http://schemas.openxmlformats.org/drawingml/2006/main">
          <a:graphicData uri="http://schemas.openxmlformats.org/drawingml/2006/chart">
            <c:chart xmlns:c="http://schemas.openxmlformats.org/drawingml/2006/chart" r:id="rId1"/>
          </a:graphicData>
        </a:graphic>
      </p:graphicFrame>
      <p:sp>
        <p:nvSpPr>
          <p:cNvPr id="5" name="card_63"/>
          <p:cNvSpPr/>
          <p:nvPr/>
        </p:nvSpPr>
        <p:spPr>
          <a:xfrm>
            <a:off x="5852160" y="1234440"/>
            <a:ext cx="2834640" cy="3246120"/>
          </a:xfrm>
          <a:prstGeom prst="roundRect">
            <a:avLst>
              <a:gd name="adj" fmla="val 2581"/>
            </a:avLst>
          </a:prstGeom>
          <a:solidFill>
            <a:schemeClr val="bg2"/>
          </a:solidFill>
          <a:ln w="12700">
            <a:solidFill>
              <a:schemeClr val="bg2"/>
            </a:solidFill>
            <a:prstDash val="solid"/>
          </a:ln>
        </p:spPr>
      </p:sp>
      <p:sp>
        <p:nvSpPr>
          <p:cNvPr id="6" name="stat_64"/>
          <p:cNvSpPr txBox="1"/>
          <p:nvPr/>
        </p:nvSpPr>
        <p:spPr>
          <a:xfrm>
            <a:off x="6080760" y="1417320"/>
            <a:ext cx="2377440" cy="640080"/>
          </a:xfrm>
          <a:prstGeom prst="rect">
            <a:avLst/>
          </a:prstGeom>
          <a:noFill/>
          <a:ln/>
        </p:spPr>
        <p:txBody>
          <a:bodyPr wrap="square" lIns="0" tIns="0" rIns="0" bIns="0" rtlCol="0" anchor="b"/>
          <a:lstStyle/>
          <a:p>
            <a:pPr indent="0" marL="0">
              <a:buNone/>
            </a:pPr>
            <a:r>
              <a:rPr lang="en-US" sz="3000" b="1" dirty="0">
                <a:solidFill>
                  <a:schemeClr val="accent2"/>
                </a:solidFill>
                <a:latin typeface="Cambria" pitchFamily="34" charset="0"/>
                <a:ea typeface="Cambria" pitchFamily="34" charset="-122"/>
                <a:cs typeface="Cambria" pitchFamily="34" charset="-120"/>
              </a:rPr>
              <a:t>+₦470M</a:t>
            </a:r>
            <a:endParaRPr lang="en-US" sz="3000" dirty="0"/>
          </a:p>
        </p:txBody>
      </p:sp>
      <p:sp>
        <p:nvSpPr>
          <p:cNvPr id="7" name="statlabel_65"/>
          <p:cNvSpPr txBox="1"/>
          <p:nvPr/>
        </p:nvSpPr>
        <p:spPr>
          <a:xfrm>
            <a:off x="6080760" y="2103120"/>
            <a:ext cx="2377440" cy="502920"/>
          </a:xfrm>
          <a:prstGeom prst="rect">
            <a:avLst/>
          </a:prstGeom>
          <a:noFill/>
          <a:ln/>
        </p:spPr>
        <p:txBody>
          <a:bodyPr wrap="square" lIns="0" tIns="0" rIns="0" bIns="0" rtlCol="0" anchor="t"/>
          <a:lstStyle/>
          <a:p>
            <a:pPr indent="0" marL="0">
              <a:buNone/>
            </a:pPr>
            <a:r>
              <a:rPr lang="en-US" sz="1300" dirty="0">
                <a:solidFill>
                  <a:schemeClr val="tx1"/>
                </a:solidFill>
              </a:rPr>
              <a:t>a year if completion rose from 33% to 40%</a:t>
            </a:r>
            <a:endParaRPr lang="en-US" sz="1300" dirty="0"/>
          </a:p>
        </p:txBody>
      </p:sp>
      <p:sp>
        <p:nvSpPr>
          <p:cNvPr id="8" name="bullets_66"/>
          <p:cNvSpPr txBox="1"/>
          <p:nvPr/>
        </p:nvSpPr>
        <p:spPr>
          <a:xfrm>
            <a:off x="6080760" y="2743200"/>
            <a:ext cx="2423160" cy="16459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Status mix is the same across channels, payment methods and segments</a:t>
            </a:r>
            <a:endParaRPr lang="en-US" sz="1200" dirty="0"/>
          </a:p>
          <a:p>
            <a:pPr marL="342900" indent="-342900">
              <a:spcAft>
                <a:spcPts val="600"/>
              </a:spcAft>
              <a:buSzPct val="100000"/>
              <a:buChar char="•"/>
            </a:pPr>
            <a:r>
              <a:rPr lang="en-US" sz="1200" dirty="0">
                <a:solidFill>
                  <a:schemeClr val="tx1"/>
                </a:solidFill>
              </a:rPr>
              <a:t>Best stores complete 36% of orders, the weakest 31%</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Revenue is steady, with a Q4 festive lift</a:t>
            </a:r>
            <a:endParaRPr lang="en-US" sz="2600" dirty="0"/>
          </a:p>
        </p:txBody>
      </p:sp>
      <p:graphicFrame>
        <p:nvGraphicFramePr>
          <p:cNvPr id="4" name="chart_67" descr=""/>
          <p:cNvGraphicFramePr/>
          <p:nvPr/>
        </p:nvGraphicFramePr>
        <p:xfrm>
          <a:off x="457200" y="1143000"/>
          <a:ext cx="5577840" cy="3429000"/>
        </p:xfrm>
        <a:graphic xmlns:a="http://schemas.openxmlformats.org/drawingml/2006/main">
          <a:graphicData uri="http://schemas.openxmlformats.org/drawingml/2006/chart">
            <c:chart xmlns:c="http://schemas.openxmlformats.org/drawingml/2006/chart" r:id="rId1"/>
          </a:graphicData>
        </a:graphic>
      </p:graphicFrame>
      <p:sp>
        <p:nvSpPr>
          <p:cNvPr id="5" name="card_68"/>
          <p:cNvSpPr/>
          <p:nvPr/>
        </p:nvSpPr>
        <p:spPr>
          <a:xfrm>
            <a:off x="6263640" y="1234440"/>
            <a:ext cx="2423160" cy="3246120"/>
          </a:xfrm>
          <a:prstGeom prst="roundRect">
            <a:avLst>
              <a:gd name="adj" fmla="val 3019"/>
            </a:avLst>
          </a:prstGeom>
          <a:solidFill>
            <a:schemeClr val="bg2"/>
          </a:solidFill>
          <a:ln w="12700">
            <a:solidFill>
              <a:schemeClr val="bg2"/>
            </a:solidFill>
            <a:prstDash val="solid"/>
          </a:ln>
        </p:spPr>
      </p:sp>
      <p:sp>
        <p:nvSpPr>
          <p:cNvPr id="6" name="stat_69"/>
          <p:cNvSpPr txBox="1"/>
          <p:nvPr/>
        </p:nvSpPr>
        <p:spPr>
          <a:xfrm>
            <a:off x="6446520" y="1417320"/>
            <a:ext cx="210312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₦201M</a:t>
            </a:r>
            <a:endParaRPr lang="en-US" sz="2800" dirty="0"/>
          </a:p>
        </p:txBody>
      </p:sp>
      <p:sp>
        <p:nvSpPr>
          <p:cNvPr id="7" name="statlabel_70"/>
          <p:cNvSpPr txBox="1"/>
          <p:nvPr/>
        </p:nvSpPr>
        <p:spPr>
          <a:xfrm>
            <a:off x="6446520" y="2103120"/>
            <a:ext cx="2103120" cy="502920"/>
          </a:xfrm>
          <a:prstGeom prst="rect">
            <a:avLst/>
          </a:prstGeom>
          <a:noFill/>
          <a:ln/>
        </p:spPr>
        <p:txBody>
          <a:bodyPr wrap="square" lIns="0" tIns="0" rIns="0" bIns="0" rtlCol="0" anchor="t"/>
          <a:lstStyle/>
          <a:p>
            <a:pPr indent="0" marL="0">
              <a:buNone/>
            </a:pPr>
            <a:r>
              <a:rPr lang="en-US" sz="1200" dirty="0">
                <a:solidFill>
                  <a:schemeClr val="tx1"/>
                </a:solidFill>
              </a:rPr>
              <a:t>December peak, the best month</a:t>
            </a:r>
            <a:endParaRPr lang="en-US" sz="1200" dirty="0"/>
          </a:p>
        </p:txBody>
      </p:sp>
      <p:sp>
        <p:nvSpPr>
          <p:cNvPr id="8" name="stat_71"/>
          <p:cNvSpPr txBox="1"/>
          <p:nvPr/>
        </p:nvSpPr>
        <p:spPr>
          <a:xfrm>
            <a:off x="6446520" y="2788920"/>
            <a:ext cx="2103120" cy="640080"/>
          </a:xfrm>
          <a:prstGeom prst="rect">
            <a:avLst/>
          </a:prstGeom>
          <a:noFill/>
          <a:ln/>
        </p:spPr>
        <p:txBody>
          <a:bodyPr wrap="square" lIns="0" tIns="0" rIns="0" bIns="0" rtlCol="0" anchor="b"/>
          <a:lstStyle/>
          <a:p>
            <a:pPr indent="0" marL="0">
              <a:buNone/>
            </a:pPr>
            <a:r>
              <a:rPr lang="en-US" sz="2800" b="1" dirty="0">
                <a:solidFill>
                  <a:schemeClr val="accent6"/>
                </a:solidFill>
                <a:latin typeface="Cambria" pitchFamily="34" charset="0"/>
                <a:ea typeface="Cambria" pitchFamily="34" charset="-122"/>
                <a:cs typeface="Cambria" pitchFamily="34" charset="-120"/>
              </a:rPr>
              <a:t>±7%</a:t>
            </a:r>
            <a:endParaRPr lang="en-US" sz="2800" dirty="0"/>
          </a:p>
        </p:txBody>
      </p:sp>
      <p:sp>
        <p:nvSpPr>
          <p:cNvPr id="9" name="statlabel_72"/>
          <p:cNvSpPr txBox="1"/>
          <p:nvPr/>
        </p:nvSpPr>
        <p:spPr>
          <a:xfrm>
            <a:off x="6446520" y="3474720"/>
            <a:ext cx="2103120" cy="502920"/>
          </a:xfrm>
          <a:prstGeom prst="rect">
            <a:avLst/>
          </a:prstGeom>
          <a:noFill/>
          <a:ln/>
        </p:spPr>
        <p:txBody>
          <a:bodyPr wrap="square" lIns="0" tIns="0" rIns="0" bIns="0" rtlCol="0" anchor="t"/>
          <a:lstStyle/>
          <a:p>
            <a:pPr indent="0" marL="0">
              <a:buNone/>
            </a:pPr>
            <a:r>
              <a:rPr lang="en-US" sz="1200" dirty="0">
                <a:solidFill>
                  <a:schemeClr val="tx1"/>
                </a:solidFill>
              </a:rPr>
              <a:t>monthly swing around the ₦187M average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Beauty leads; Beauty and Fashion grow fastest</a:t>
            </a:r>
            <a:endParaRPr lang="en-US" sz="2600" dirty="0"/>
          </a:p>
        </p:txBody>
      </p:sp>
      <p:graphicFrame>
        <p:nvGraphicFramePr>
          <p:cNvPr id="4" name="chart_73" descr=""/>
          <p:cNvGraphicFramePr/>
          <p:nvPr/>
        </p:nvGraphicFramePr>
        <p:xfrm>
          <a:off x="457200" y="114300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5" name="card_74"/>
          <p:cNvSpPr/>
          <p:nvPr/>
        </p:nvSpPr>
        <p:spPr>
          <a:xfrm>
            <a:off x="5669280" y="1234440"/>
            <a:ext cx="3017520" cy="3246120"/>
          </a:xfrm>
          <a:prstGeom prst="roundRect">
            <a:avLst>
              <a:gd name="adj" fmla="val 2424"/>
            </a:avLst>
          </a:prstGeom>
          <a:solidFill>
            <a:schemeClr val="bg2"/>
          </a:solidFill>
          <a:ln w="12700">
            <a:solidFill>
              <a:schemeClr val="bg2"/>
            </a:solidFill>
            <a:prstDash val="solid"/>
          </a:ln>
        </p:spPr>
      </p:sp>
      <p:sp>
        <p:nvSpPr>
          <p:cNvPr id="6" name="hdr_75"/>
          <p:cNvSpPr txBox="1"/>
          <p:nvPr/>
        </p:nvSpPr>
        <p:spPr>
          <a:xfrm>
            <a:off x="5897880" y="1371600"/>
            <a:ext cx="2560320" cy="365760"/>
          </a:xfrm>
          <a:prstGeom prst="rect">
            <a:avLst/>
          </a:prstGeom>
          <a:noFill/>
          <a:ln/>
        </p:spPr>
        <p:txBody>
          <a:bodyPr wrap="square" lIns="0" tIns="0" rIns="0" bIns="0" rtlCol="0" anchor="ctr"/>
          <a:lstStyle/>
          <a:p>
            <a:pPr indent="0" marL="0">
              <a:buNone/>
            </a:pPr>
            <a:r>
              <a:rPr lang="en-US" sz="1400" b="1" dirty="0">
                <a:solidFill>
                  <a:schemeClr val="tx2"/>
                </a:solidFill>
              </a:rPr>
              <a:t>Q4 vs Q1 growth</a:t>
            </a:r>
            <a:endParaRPr lang="en-US" sz="1400" dirty="0"/>
          </a:p>
        </p:txBody>
      </p:sp>
      <p:sp>
        <p:nvSpPr>
          <p:cNvPr id="7" name="g_76"/>
          <p:cNvSpPr txBox="1"/>
          <p:nvPr/>
        </p:nvSpPr>
        <p:spPr>
          <a:xfrm>
            <a:off x="5897880" y="1828800"/>
            <a:ext cx="1554480" cy="411480"/>
          </a:xfrm>
          <a:prstGeom prst="rect">
            <a:avLst/>
          </a:prstGeom>
          <a:noFill/>
          <a:ln/>
        </p:spPr>
        <p:txBody>
          <a:bodyPr wrap="square" lIns="0" tIns="0" rIns="0" bIns="0" rtlCol="0" anchor="ctr"/>
          <a:lstStyle/>
          <a:p>
            <a:pPr indent="0" marL="0">
              <a:buNone/>
            </a:pPr>
            <a:r>
              <a:rPr lang="en-US" sz="1400" dirty="0">
                <a:solidFill>
                  <a:schemeClr val="tx1"/>
                </a:solidFill>
              </a:rPr>
              <a:t>Fashion</a:t>
            </a:r>
            <a:endParaRPr lang="en-US" sz="1400" dirty="0"/>
          </a:p>
        </p:txBody>
      </p:sp>
      <p:sp>
        <p:nvSpPr>
          <p:cNvPr id="8" name="gv_77"/>
          <p:cNvSpPr txBox="1"/>
          <p:nvPr/>
        </p:nvSpPr>
        <p:spPr>
          <a:xfrm>
            <a:off x="7452360" y="1828800"/>
            <a:ext cx="1005840" cy="411480"/>
          </a:xfrm>
          <a:prstGeom prst="rect">
            <a:avLst/>
          </a:prstGeom>
          <a:noFill/>
          <a:ln/>
        </p:spPr>
        <p:txBody>
          <a:bodyPr wrap="square" lIns="0" tIns="0" rIns="0" bIns="0" rtlCol="0" anchor="ctr"/>
          <a:lstStyle/>
          <a:p>
            <a:pPr algn="r" indent="0" marL="0">
              <a:buNone/>
            </a:pPr>
            <a:r>
              <a:rPr lang="en-US" sz="1600" b="1" dirty="0">
                <a:solidFill>
                  <a:schemeClr val="accent1"/>
                </a:solidFill>
              </a:rPr>
              <a:t>+10.0%</a:t>
            </a:r>
            <a:endParaRPr lang="en-US" sz="1600" dirty="0"/>
          </a:p>
        </p:txBody>
      </p:sp>
      <p:sp>
        <p:nvSpPr>
          <p:cNvPr id="9" name="g_78"/>
          <p:cNvSpPr txBox="1"/>
          <p:nvPr/>
        </p:nvSpPr>
        <p:spPr>
          <a:xfrm>
            <a:off x="5897880" y="2331720"/>
            <a:ext cx="1554480" cy="411480"/>
          </a:xfrm>
          <a:prstGeom prst="rect">
            <a:avLst/>
          </a:prstGeom>
          <a:noFill/>
          <a:ln/>
        </p:spPr>
        <p:txBody>
          <a:bodyPr wrap="square" lIns="0" tIns="0" rIns="0" bIns="0" rtlCol="0" anchor="ctr"/>
          <a:lstStyle/>
          <a:p>
            <a:pPr indent="0" marL="0">
              <a:buNone/>
            </a:pPr>
            <a:r>
              <a:rPr lang="en-US" sz="1400" dirty="0">
                <a:solidFill>
                  <a:schemeClr val="tx1"/>
                </a:solidFill>
              </a:rPr>
              <a:t>Beauty</a:t>
            </a:r>
            <a:endParaRPr lang="en-US" sz="1400" dirty="0"/>
          </a:p>
        </p:txBody>
      </p:sp>
      <p:sp>
        <p:nvSpPr>
          <p:cNvPr id="10" name="gv_79"/>
          <p:cNvSpPr txBox="1"/>
          <p:nvPr/>
        </p:nvSpPr>
        <p:spPr>
          <a:xfrm>
            <a:off x="7452360" y="2331720"/>
            <a:ext cx="1005840" cy="411480"/>
          </a:xfrm>
          <a:prstGeom prst="rect">
            <a:avLst/>
          </a:prstGeom>
          <a:noFill/>
          <a:ln/>
        </p:spPr>
        <p:txBody>
          <a:bodyPr wrap="square" lIns="0" tIns="0" rIns="0" bIns="0" rtlCol="0" anchor="ctr"/>
          <a:lstStyle/>
          <a:p>
            <a:pPr algn="r" indent="0" marL="0">
              <a:buNone/>
            </a:pPr>
            <a:r>
              <a:rPr lang="en-US" sz="1600" b="1" dirty="0">
                <a:solidFill>
                  <a:schemeClr val="accent1"/>
                </a:solidFill>
              </a:rPr>
              <a:t>+7.6%</a:t>
            </a:r>
            <a:endParaRPr lang="en-US" sz="1600" dirty="0"/>
          </a:p>
        </p:txBody>
      </p:sp>
      <p:sp>
        <p:nvSpPr>
          <p:cNvPr id="11" name="g_80"/>
          <p:cNvSpPr txBox="1"/>
          <p:nvPr/>
        </p:nvSpPr>
        <p:spPr>
          <a:xfrm>
            <a:off x="5897880" y="2834640"/>
            <a:ext cx="1554480" cy="411480"/>
          </a:xfrm>
          <a:prstGeom prst="rect">
            <a:avLst/>
          </a:prstGeom>
          <a:noFill/>
          <a:ln/>
        </p:spPr>
        <p:txBody>
          <a:bodyPr wrap="square" lIns="0" tIns="0" rIns="0" bIns="0" rtlCol="0" anchor="ctr"/>
          <a:lstStyle/>
          <a:p>
            <a:pPr indent="0" marL="0">
              <a:buNone/>
            </a:pPr>
            <a:r>
              <a:rPr lang="en-US" sz="1400" dirty="0">
                <a:solidFill>
                  <a:schemeClr val="tx1"/>
                </a:solidFill>
              </a:rPr>
              <a:t>Electronics</a:t>
            </a:r>
            <a:endParaRPr lang="en-US" sz="1400" dirty="0"/>
          </a:p>
        </p:txBody>
      </p:sp>
      <p:sp>
        <p:nvSpPr>
          <p:cNvPr id="12" name="gv_81"/>
          <p:cNvSpPr txBox="1"/>
          <p:nvPr/>
        </p:nvSpPr>
        <p:spPr>
          <a:xfrm>
            <a:off x="7452360" y="2834640"/>
            <a:ext cx="1005840" cy="411480"/>
          </a:xfrm>
          <a:prstGeom prst="rect">
            <a:avLst/>
          </a:prstGeom>
          <a:noFill/>
          <a:ln/>
        </p:spPr>
        <p:txBody>
          <a:bodyPr wrap="square" lIns="0" tIns="0" rIns="0" bIns="0" rtlCol="0" anchor="ctr"/>
          <a:lstStyle/>
          <a:p>
            <a:pPr algn="r" indent="0" marL="0">
              <a:buNone/>
            </a:pPr>
            <a:r>
              <a:rPr lang="en-US" sz="1600" b="1" dirty="0">
                <a:solidFill>
                  <a:schemeClr val="accent6"/>
                </a:solidFill>
              </a:rPr>
              <a:t>+4.8%</a:t>
            </a:r>
            <a:endParaRPr lang="en-US" sz="1600" dirty="0"/>
          </a:p>
        </p:txBody>
      </p:sp>
      <p:sp>
        <p:nvSpPr>
          <p:cNvPr id="13" name="g_82"/>
          <p:cNvSpPr txBox="1"/>
          <p:nvPr/>
        </p:nvSpPr>
        <p:spPr>
          <a:xfrm>
            <a:off x="5897880" y="3337560"/>
            <a:ext cx="1554480" cy="411480"/>
          </a:xfrm>
          <a:prstGeom prst="rect">
            <a:avLst/>
          </a:prstGeom>
          <a:noFill/>
          <a:ln/>
        </p:spPr>
        <p:txBody>
          <a:bodyPr wrap="square" lIns="0" tIns="0" rIns="0" bIns="0" rtlCol="0" anchor="ctr"/>
          <a:lstStyle/>
          <a:p>
            <a:pPr indent="0" marL="0">
              <a:buNone/>
            </a:pPr>
            <a:r>
              <a:rPr lang="en-US" sz="1400" dirty="0">
                <a:solidFill>
                  <a:schemeClr val="tx1"/>
                </a:solidFill>
              </a:rPr>
              <a:t>Home</a:t>
            </a:r>
            <a:endParaRPr lang="en-US" sz="1400" dirty="0"/>
          </a:p>
        </p:txBody>
      </p:sp>
      <p:sp>
        <p:nvSpPr>
          <p:cNvPr id="14" name="gv_83"/>
          <p:cNvSpPr txBox="1"/>
          <p:nvPr/>
        </p:nvSpPr>
        <p:spPr>
          <a:xfrm>
            <a:off x="7452360" y="3337560"/>
            <a:ext cx="1005840" cy="411480"/>
          </a:xfrm>
          <a:prstGeom prst="rect">
            <a:avLst/>
          </a:prstGeom>
          <a:noFill/>
          <a:ln/>
        </p:spPr>
        <p:txBody>
          <a:bodyPr wrap="square" lIns="0" tIns="0" rIns="0" bIns="0" rtlCol="0" anchor="ctr"/>
          <a:lstStyle/>
          <a:p>
            <a:pPr algn="r" indent="0" marL="0">
              <a:buNone/>
            </a:pPr>
            <a:r>
              <a:rPr lang="en-US" sz="1600" b="1" dirty="0">
                <a:solidFill>
                  <a:schemeClr val="accent6"/>
                </a:solidFill>
              </a:rPr>
              <a:t>+3.8%</a:t>
            </a:r>
            <a:endParaRPr lang="en-US" sz="1600" dirty="0"/>
          </a:p>
        </p:txBody>
      </p:sp>
      <p:sp>
        <p:nvSpPr>
          <p:cNvPr id="15" name="g_84"/>
          <p:cNvSpPr txBox="1"/>
          <p:nvPr/>
        </p:nvSpPr>
        <p:spPr>
          <a:xfrm>
            <a:off x="5897880" y="3840480"/>
            <a:ext cx="1554480" cy="411480"/>
          </a:xfrm>
          <a:prstGeom prst="rect">
            <a:avLst/>
          </a:prstGeom>
          <a:noFill/>
          <a:ln/>
        </p:spPr>
        <p:txBody>
          <a:bodyPr wrap="square" lIns="0" tIns="0" rIns="0" bIns="0" rtlCol="0" anchor="ctr"/>
          <a:lstStyle/>
          <a:p>
            <a:pPr indent="0" marL="0">
              <a:buNone/>
            </a:pPr>
            <a:r>
              <a:rPr lang="en-US" sz="1400" dirty="0">
                <a:solidFill>
                  <a:schemeClr val="tx1"/>
                </a:solidFill>
              </a:rPr>
              <a:t>Groceries</a:t>
            </a:r>
            <a:endParaRPr lang="en-US" sz="1400" dirty="0"/>
          </a:p>
        </p:txBody>
      </p:sp>
      <p:sp>
        <p:nvSpPr>
          <p:cNvPr id="16" name="gv_85"/>
          <p:cNvSpPr txBox="1"/>
          <p:nvPr/>
        </p:nvSpPr>
        <p:spPr>
          <a:xfrm>
            <a:off x="7452360" y="3840480"/>
            <a:ext cx="1005840" cy="411480"/>
          </a:xfrm>
          <a:prstGeom prst="rect">
            <a:avLst/>
          </a:prstGeom>
          <a:noFill/>
          <a:ln/>
        </p:spPr>
        <p:txBody>
          <a:bodyPr wrap="square" lIns="0" tIns="0" rIns="0" bIns="0" rtlCol="0" anchor="ctr"/>
          <a:lstStyle/>
          <a:p>
            <a:pPr algn="r" indent="0" marL="0">
              <a:buNone/>
            </a:pPr>
            <a:r>
              <a:rPr lang="en-US" sz="1600" b="1" dirty="0">
                <a:solidFill>
                  <a:schemeClr val="accent6"/>
                </a:solidFill>
              </a:rPr>
              <a:t>+1.1%</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Stores differ on order completion, not footfall</a:t>
            </a:r>
            <a:endParaRPr lang="en-US" sz="2600" dirty="0"/>
          </a:p>
        </p:txBody>
      </p:sp>
      <p:graphicFrame>
        <p:nvGraphicFramePr>
          <p:cNvPr id="4" name="chart_86" descr=""/>
          <p:cNvGraphicFramePr/>
          <p:nvPr/>
        </p:nvGraphicFramePr>
        <p:xfrm>
          <a:off x="457200" y="1143000"/>
          <a:ext cx="4937760" cy="3429000"/>
        </p:xfrm>
        <a:graphic xmlns:a="http://schemas.openxmlformats.org/drawingml/2006/main">
          <a:graphicData uri="http://schemas.openxmlformats.org/drawingml/2006/chart">
            <c:chart xmlns:c="http://schemas.openxmlformats.org/drawingml/2006/chart" r:id="rId1"/>
          </a:graphicData>
        </a:graphic>
      </p:graphicFrame>
      <p:sp>
        <p:nvSpPr>
          <p:cNvPr id="5" name="card_87"/>
          <p:cNvSpPr/>
          <p:nvPr/>
        </p:nvSpPr>
        <p:spPr>
          <a:xfrm>
            <a:off x="5669280" y="1234440"/>
            <a:ext cx="3017520" cy="1508760"/>
          </a:xfrm>
          <a:prstGeom prst="roundRect">
            <a:avLst>
              <a:gd name="adj" fmla="val 4848"/>
            </a:avLst>
          </a:prstGeom>
          <a:solidFill>
            <a:schemeClr val="bg2"/>
          </a:solidFill>
          <a:ln w="12700">
            <a:solidFill>
              <a:schemeClr val="bg2"/>
            </a:solidFill>
            <a:prstDash val="solid"/>
          </a:ln>
        </p:spPr>
      </p:sp>
      <p:sp>
        <p:nvSpPr>
          <p:cNvPr id="6" name="stat_88"/>
          <p:cNvSpPr txBox="1"/>
          <p:nvPr/>
        </p:nvSpPr>
        <p:spPr>
          <a:xfrm>
            <a:off x="5897880" y="1325880"/>
            <a:ext cx="265176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₦102M</a:t>
            </a:r>
            <a:endParaRPr lang="en-US" sz="2800" dirty="0"/>
          </a:p>
        </p:txBody>
      </p:sp>
      <p:sp>
        <p:nvSpPr>
          <p:cNvPr id="7" name="statlabel_89"/>
          <p:cNvSpPr txBox="1"/>
          <p:nvPr/>
        </p:nvSpPr>
        <p:spPr>
          <a:xfrm>
            <a:off x="5897880" y="2011680"/>
            <a:ext cx="2651760" cy="502920"/>
          </a:xfrm>
          <a:prstGeom prst="rect">
            <a:avLst/>
          </a:prstGeom>
          <a:noFill/>
          <a:ln/>
        </p:spPr>
        <p:txBody>
          <a:bodyPr wrap="square" lIns="0" tIns="0" rIns="0" bIns="0" rtlCol="0" anchor="t"/>
          <a:lstStyle/>
          <a:p>
            <a:pPr indent="0" marL="0">
              <a:buNone/>
            </a:pPr>
            <a:r>
              <a:rPr lang="en-US" sz="1200" dirty="0">
                <a:solidFill>
                  <a:schemeClr val="tx1"/>
                </a:solidFill>
              </a:rPr>
              <a:t>Best: Lagos (STR003), 36% completion</a:t>
            </a:r>
            <a:endParaRPr lang="en-US" sz="1200" dirty="0"/>
          </a:p>
        </p:txBody>
      </p:sp>
      <p:sp>
        <p:nvSpPr>
          <p:cNvPr id="8" name="card_90"/>
          <p:cNvSpPr/>
          <p:nvPr/>
        </p:nvSpPr>
        <p:spPr>
          <a:xfrm>
            <a:off x="5669280" y="2971800"/>
            <a:ext cx="3017520" cy="1508760"/>
          </a:xfrm>
          <a:prstGeom prst="roundRect">
            <a:avLst>
              <a:gd name="adj" fmla="val 4848"/>
            </a:avLst>
          </a:prstGeom>
          <a:solidFill>
            <a:schemeClr val="bg2"/>
          </a:solidFill>
          <a:ln w="12700">
            <a:solidFill>
              <a:schemeClr val="bg2"/>
            </a:solidFill>
            <a:prstDash val="solid"/>
          </a:ln>
        </p:spPr>
      </p:sp>
      <p:sp>
        <p:nvSpPr>
          <p:cNvPr id="9" name="stat_91"/>
          <p:cNvSpPr txBox="1"/>
          <p:nvPr/>
        </p:nvSpPr>
        <p:spPr>
          <a:xfrm>
            <a:off x="5897880" y="3063240"/>
            <a:ext cx="2651760" cy="640080"/>
          </a:xfrm>
          <a:prstGeom prst="rect">
            <a:avLst/>
          </a:prstGeom>
          <a:noFill/>
          <a:ln/>
        </p:spPr>
        <p:txBody>
          <a:bodyPr wrap="square" lIns="0" tIns="0" rIns="0" bIns="0" rtlCol="0" anchor="b"/>
          <a:lstStyle/>
          <a:p>
            <a:pPr indent="0" marL="0">
              <a:buNone/>
            </a:pPr>
            <a:r>
              <a:rPr lang="en-US" sz="2800" b="1" dirty="0">
                <a:solidFill>
                  <a:schemeClr val="accent4"/>
                </a:solidFill>
                <a:latin typeface="Cambria" pitchFamily="34" charset="0"/>
                <a:ea typeface="Cambria" pitchFamily="34" charset="-122"/>
                <a:cs typeface="Cambria" pitchFamily="34" charset="-120"/>
              </a:rPr>
              <a:t>₦81M</a:t>
            </a:r>
            <a:endParaRPr lang="en-US" sz="2800" dirty="0"/>
          </a:p>
        </p:txBody>
      </p:sp>
      <p:sp>
        <p:nvSpPr>
          <p:cNvPr id="10" name="statlabel_92"/>
          <p:cNvSpPr txBox="1"/>
          <p:nvPr/>
        </p:nvSpPr>
        <p:spPr>
          <a:xfrm>
            <a:off x="5897880" y="3749040"/>
            <a:ext cx="2651760" cy="502920"/>
          </a:xfrm>
          <a:prstGeom prst="rect">
            <a:avLst/>
          </a:prstGeom>
          <a:noFill/>
          <a:ln/>
        </p:spPr>
        <p:txBody>
          <a:bodyPr wrap="square" lIns="0" tIns="0" rIns="0" bIns="0" rtlCol="0" anchor="t"/>
          <a:lstStyle/>
          <a:p>
            <a:pPr indent="0" marL="0">
              <a:buNone/>
            </a:pPr>
            <a:r>
              <a:rPr lang="en-US" sz="1200" dirty="0">
                <a:solidFill>
                  <a:schemeClr val="tx1"/>
                </a:solidFill>
              </a:rPr>
              <a:t>Weakest: Kano (STR002), 32% completion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Tiers don't separate customer value; frequency does</a:t>
            </a:r>
            <a:endParaRPr lang="en-US" sz="2600" dirty="0"/>
          </a:p>
        </p:txBody>
      </p:sp>
      <p:sp>
        <p:nvSpPr>
          <p:cNvPr id="4" name="hdr_93"/>
          <p:cNvSpPr txBox="1"/>
          <p:nvPr/>
        </p:nvSpPr>
        <p:spPr>
          <a:xfrm>
            <a:off x="457200" y="1188720"/>
            <a:ext cx="3291840" cy="320040"/>
          </a:xfrm>
          <a:prstGeom prst="rect">
            <a:avLst/>
          </a:prstGeom>
          <a:noFill/>
          <a:ln/>
        </p:spPr>
        <p:txBody>
          <a:bodyPr wrap="square" lIns="0" tIns="0" rIns="0" bIns="0" rtlCol="0" anchor="ctr"/>
          <a:lstStyle/>
          <a:p>
            <a:pPr indent="0" marL="0">
              <a:buNone/>
            </a:pPr>
            <a:r>
              <a:rPr lang="en-US" sz="1300" b="1" dirty="0">
                <a:solidFill>
                  <a:schemeClr val="tx2"/>
                </a:solidFill>
              </a:rPr>
              <a:t>Revenue per customer by tier</a:t>
            </a:r>
            <a:endParaRPr lang="en-US" sz="1300" dirty="0"/>
          </a:p>
        </p:txBody>
      </p:sp>
      <p:sp>
        <p:nvSpPr>
          <p:cNvPr id="5" name="card_94"/>
          <p:cNvSpPr/>
          <p:nvPr/>
        </p:nvSpPr>
        <p:spPr>
          <a:xfrm>
            <a:off x="457200" y="1645920"/>
            <a:ext cx="3291840" cy="822960"/>
          </a:xfrm>
          <a:prstGeom prst="roundRect">
            <a:avLst>
              <a:gd name="adj" fmla="val 8889"/>
            </a:avLst>
          </a:prstGeom>
          <a:solidFill>
            <a:schemeClr val="bg2"/>
          </a:solidFill>
          <a:ln w="12700">
            <a:solidFill>
              <a:schemeClr val="bg2"/>
            </a:solidFill>
            <a:prstDash val="solid"/>
          </a:ln>
        </p:spPr>
      </p:sp>
      <p:sp>
        <p:nvSpPr>
          <p:cNvPr id="6" name="t_95"/>
          <p:cNvSpPr txBox="1"/>
          <p:nvPr/>
        </p:nvSpPr>
        <p:spPr>
          <a:xfrm>
            <a:off x="640080" y="1645920"/>
            <a:ext cx="1280160" cy="822960"/>
          </a:xfrm>
          <a:prstGeom prst="rect">
            <a:avLst/>
          </a:prstGeom>
          <a:noFill/>
          <a:ln/>
        </p:spPr>
        <p:txBody>
          <a:bodyPr wrap="square" lIns="0" tIns="0" rIns="0" bIns="0" rtlCol="0" anchor="ctr"/>
          <a:lstStyle/>
          <a:p>
            <a:pPr indent="0" marL="0">
              <a:buNone/>
            </a:pPr>
            <a:r>
              <a:rPr lang="en-US" sz="1500" dirty="0">
                <a:solidFill>
                  <a:schemeClr val="tx1"/>
                </a:solidFill>
              </a:rPr>
              <a:t>Gold</a:t>
            </a:r>
            <a:endParaRPr lang="en-US" sz="1500" dirty="0"/>
          </a:p>
        </p:txBody>
      </p:sp>
      <p:sp>
        <p:nvSpPr>
          <p:cNvPr id="7" name="tv_96"/>
          <p:cNvSpPr txBox="1"/>
          <p:nvPr/>
        </p:nvSpPr>
        <p:spPr>
          <a:xfrm>
            <a:off x="1920240" y="1645920"/>
            <a:ext cx="1645920" cy="822960"/>
          </a:xfrm>
          <a:prstGeom prst="rect">
            <a:avLst/>
          </a:prstGeom>
          <a:noFill/>
          <a:ln/>
        </p:spPr>
        <p:txBody>
          <a:bodyPr wrap="square" lIns="0" tIns="0" rIns="0" bIns="0" rtlCol="0" anchor="ctr"/>
          <a:lstStyle/>
          <a:p>
            <a:pPr algn="r" indent="0" marL="0">
              <a:buNone/>
            </a:pPr>
            <a:r>
              <a:rPr lang="en-US" sz="2400" b="1" dirty="0">
                <a:solidFill>
                  <a:schemeClr val="accent6"/>
                </a:solidFill>
                <a:latin typeface="Cambria" pitchFamily="34" charset="0"/>
                <a:ea typeface="Cambria" pitchFamily="34" charset="-122"/>
                <a:cs typeface="Cambria" pitchFamily="34" charset="-120"/>
              </a:rPr>
              <a:t>₦470K</a:t>
            </a:r>
            <a:endParaRPr lang="en-US" sz="2400" dirty="0"/>
          </a:p>
        </p:txBody>
      </p:sp>
      <p:sp>
        <p:nvSpPr>
          <p:cNvPr id="8" name="card_97"/>
          <p:cNvSpPr/>
          <p:nvPr/>
        </p:nvSpPr>
        <p:spPr>
          <a:xfrm>
            <a:off x="457200" y="2606040"/>
            <a:ext cx="3291840" cy="822960"/>
          </a:xfrm>
          <a:prstGeom prst="roundRect">
            <a:avLst>
              <a:gd name="adj" fmla="val 8889"/>
            </a:avLst>
          </a:prstGeom>
          <a:solidFill>
            <a:schemeClr val="bg2"/>
          </a:solidFill>
          <a:ln w="12700">
            <a:solidFill>
              <a:schemeClr val="bg2"/>
            </a:solidFill>
            <a:prstDash val="solid"/>
          </a:ln>
        </p:spPr>
      </p:sp>
      <p:sp>
        <p:nvSpPr>
          <p:cNvPr id="9" name="t_98"/>
          <p:cNvSpPr txBox="1"/>
          <p:nvPr/>
        </p:nvSpPr>
        <p:spPr>
          <a:xfrm>
            <a:off x="640080" y="2606040"/>
            <a:ext cx="1280160" cy="822960"/>
          </a:xfrm>
          <a:prstGeom prst="rect">
            <a:avLst/>
          </a:prstGeom>
          <a:noFill/>
          <a:ln/>
        </p:spPr>
        <p:txBody>
          <a:bodyPr wrap="square" lIns="0" tIns="0" rIns="0" bIns="0" rtlCol="0" anchor="ctr"/>
          <a:lstStyle/>
          <a:p>
            <a:pPr indent="0" marL="0">
              <a:buNone/>
            </a:pPr>
            <a:r>
              <a:rPr lang="en-US" sz="1500" dirty="0">
                <a:solidFill>
                  <a:schemeClr val="tx1"/>
                </a:solidFill>
              </a:rPr>
              <a:t>Silver</a:t>
            </a:r>
            <a:endParaRPr lang="en-US" sz="1500" dirty="0"/>
          </a:p>
        </p:txBody>
      </p:sp>
      <p:sp>
        <p:nvSpPr>
          <p:cNvPr id="10" name="tv_99"/>
          <p:cNvSpPr txBox="1"/>
          <p:nvPr/>
        </p:nvSpPr>
        <p:spPr>
          <a:xfrm>
            <a:off x="1920240" y="2606040"/>
            <a:ext cx="1645920" cy="822960"/>
          </a:xfrm>
          <a:prstGeom prst="rect">
            <a:avLst/>
          </a:prstGeom>
          <a:noFill/>
          <a:ln/>
        </p:spPr>
        <p:txBody>
          <a:bodyPr wrap="square" lIns="0" tIns="0" rIns="0" bIns="0" rtlCol="0" anchor="ctr"/>
          <a:lstStyle/>
          <a:p>
            <a:pPr algn="r" indent="0" marL="0">
              <a:buNone/>
            </a:pPr>
            <a:r>
              <a:rPr lang="en-US" sz="2400" b="1" dirty="0">
                <a:solidFill>
                  <a:schemeClr val="accent6"/>
                </a:solidFill>
                <a:latin typeface="Cambria" pitchFamily="34" charset="0"/>
                <a:ea typeface="Cambria" pitchFamily="34" charset="-122"/>
                <a:cs typeface="Cambria" pitchFamily="34" charset="-120"/>
              </a:rPr>
              <a:t>₦468K</a:t>
            </a:r>
            <a:endParaRPr lang="en-US" sz="2400" dirty="0"/>
          </a:p>
        </p:txBody>
      </p:sp>
      <p:sp>
        <p:nvSpPr>
          <p:cNvPr id="11" name="card_100"/>
          <p:cNvSpPr/>
          <p:nvPr/>
        </p:nvSpPr>
        <p:spPr>
          <a:xfrm>
            <a:off x="457200" y="3566160"/>
            <a:ext cx="3291840" cy="822960"/>
          </a:xfrm>
          <a:prstGeom prst="roundRect">
            <a:avLst>
              <a:gd name="adj" fmla="val 8889"/>
            </a:avLst>
          </a:prstGeom>
          <a:solidFill>
            <a:schemeClr val="bg2"/>
          </a:solidFill>
          <a:ln w="12700">
            <a:solidFill>
              <a:schemeClr val="bg2"/>
            </a:solidFill>
            <a:prstDash val="solid"/>
          </a:ln>
        </p:spPr>
      </p:sp>
      <p:sp>
        <p:nvSpPr>
          <p:cNvPr id="12" name="t_101"/>
          <p:cNvSpPr txBox="1"/>
          <p:nvPr/>
        </p:nvSpPr>
        <p:spPr>
          <a:xfrm>
            <a:off x="640080" y="3566160"/>
            <a:ext cx="1280160" cy="822960"/>
          </a:xfrm>
          <a:prstGeom prst="rect">
            <a:avLst/>
          </a:prstGeom>
          <a:noFill/>
          <a:ln/>
        </p:spPr>
        <p:txBody>
          <a:bodyPr wrap="square" lIns="0" tIns="0" rIns="0" bIns="0" rtlCol="0" anchor="ctr"/>
          <a:lstStyle/>
          <a:p>
            <a:pPr indent="0" marL="0">
              <a:buNone/>
            </a:pPr>
            <a:r>
              <a:rPr lang="en-US" sz="1500" dirty="0">
                <a:solidFill>
                  <a:schemeClr val="tx1"/>
                </a:solidFill>
              </a:rPr>
              <a:t>Bronze</a:t>
            </a:r>
            <a:endParaRPr lang="en-US" sz="1500" dirty="0"/>
          </a:p>
        </p:txBody>
      </p:sp>
      <p:sp>
        <p:nvSpPr>
          <p:cNvPr id="13" name="tv_102"/>
          <p:cNvSpPr txBox="1"/>
          <p:nvPr/>
        </p:nvSpPr>
        <p:spPr>
          <a:xfrm>
            <a:off x="1920240" y="3566160"/>
            <a:ext cx="1645920" cy="822960"/>
          </a:xfrm>
          <a:prstGeom prst="rect">
            <a:avLst/>
          </a:prstGeom>
          <a:noFill/>
          <a:ln/>
        </p:spPr>
        <p:txBody>
          <a:bodyPr wrap="square" lIns="0" tIns="0" rIns="0" bIns="0" rtlCol="0" anchor="ctr"/>
          <a:lstStyle/>
          <a:p>
            <a:pPr algn="r" indent="0" marL="0">
              <a:buNone/>
            </a:pPr>
            <a:r>
              <a:rPr lang="en-US" sz="2400" b="1" dirty="0">
                <a:solidFill>
                  <a:schemeClr val="accent6"/>
                </a:solidFill>
                <a:latin typeface="Cambria" pitchFamily="34" charset="0"/>
                <a:ea typeface="Cambria" pitchFamily="34" charset="-122"/>
                <a:cs typeface="Cambria" pitchFamily="34" charset="-120"/>
              </a:rPr>
              <a:t>₦468K</a:t>
            </a:r>
            <a:endParaRPr lang="en-US" sz="2400" dirty="0"/>
          </a:p>
        </p:txBody>
      </p:sp>
      <p:graphicFrame>
        <p:nvGraphicFramePr>
          <p:cNvPr id="14" name="chart_103" descr=""/>
          <p:cNvGraphicFramePr/>
          <p:nvPr/>
        </p:nvGraphicFramePr>
        <p:xfrm>
          <a:off x="4023360" y="1143000"/>
          <a:ext cx="466344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Profit leaks through pricing, and cash is idle in stock</a:t>
            </a:r>
            <a:endParaRPr lang="en-US" sz="2600" dirty="0"/>
          </a:p>
        </p:txBody>
      </p:sp>
      <p:sp>
        <p:nvSpPr>
          <p:cNvPr id="4" name="card_104"/>
          <p:cNvSpPr/>
          <p:nvPr/>
        </p:nvSpPr>
        <p:spPr>
          <a:xfrm>
            <a:off x="457200" y="1234440"/>
            <a:ext cx="3840480" cy="3246120"/>
          </a:xfrm>
          <a:prstGeom prst="roundRect">
            <a:avLst>
              <a:gd name="adj" fmla="val 2254"/>
            </a:avLst>
          </a:prstGeom>
          <a:solidFill>
            <a:schemeClr val="bg2"/>
          </a:solidFill>
          <a:ln w="12700">
            <a:solidFill>
              <a:schemeClr val="bg2"/>
            </a:solidFill>
            <a:prstDash val="solid"/>
          </a:ln>
        </p:spPr>
      </p:sp>
      <p:sp>
        <p:nvSpPr>
          <p:cNvPr id="5" name="stat_105"/>
          <p:cNvSpPr txBox="1"/>
          <p:nvPr/>
        </p:nvSpPr>
        <p:spPr>
          <a:xfrm>
            <a:off x="685800" y="1371600"/>
            <a:ext cx="3383280" cy="640080"/>
          </a:xfrm>
          <a:prstGeom prst="rect">
            <a:avLst/>
          </a:prstGeom>
          <a:noFill/>
          <a:ln/>
        </p:spPr>
        <p:txBody>
          <a:bodyPr wrap="square" lIns="0" tIns="0" rIns="0" bIns="0" rtlCol="0" anchor="b"/>
          <a:lstStyle/>
          <a:p>
            <a:pPr indent="0" marL="0">
              <a:buNone/>
            </a:pPr>
            <a:r>
              <a:rPr lang="en-US" sz="3200" b="1" dirty="0">
                <a:solidFill>
                  <a:schemeClr val="accent4"/>
                </a:solidFill>
                <a:latin typeface="Cambria" pitchFamily="34" charset="0"/>
                <a:ea typeface="Cambria" pitchFamily="34" charset="-122"/>
                <a:cs typeface="Cambria" pitchFamily="34" charset="-120"/>
              </a:rPr>
              <a:t>₦226M</a:t>
            </a:r>
            <a:endParaRPr lang="en-US" sz="3200" dirty="0"/>
          </a:p>
        </p:txBody>
      </p:sp>
      <p:sp>
        <p:nvSpPr>
          <p:cNvPr id="6" name="statlabel_106"/>
          <p:cNvSpPr txBox="1"/>
          <p:nvPr/>
        </p:nvSpPr>
        <p:spPr>
          <a:xfrm>
            <a:off x="685800" y="2057400"/>
            <a:ext cx="3383280" cy="502920"/>
          </a:xfrm>
          <a:prstGeom prst="rect">
            <a:avLst/>
          </a:prstGeom>
          <a:noFill/>
          <a:ln/>
        </p:spPr>
        <p:txBody>
          <a:bodyPr wrap="square" lIns="0" tIns="0" rIns="0" bIns="0" rtlCol="0" anchor="t"/>
          <a:lstStyle/>
          <a:p>
            <a:pPr indent="0" marL="0">
              <a:buNone/>
            </a:pPr>
            <a:r>
              <a:rPr lang="en-US" sz="1300" dirty="0">
                <a:solidFill>
                  <a:schemeClr val="tx1"/>
                </a:solidFill>
              </a:rPr>
              <a:t>lost on below-cost sales (27% of completed lines)</a:t>
            </a:r>
            <a:endParaRPr lang="en-US" sz="1300" dirty="0"/>
          </a:p>
        </p:txBody>
      </p:sp>
      <p:sp>
        <p:nvSpPr>
          <p:cNvPr id="7" name="stat_107"/>
          <p:cNvSpPr txBox="1"/>
          <p:nvPr/>
        </p:nvSpPr>
        <p:spPr>
          <a:xfrm>
            <a:off x="685800" y="2788920"/>
            <a:ext cx="3383280" cy="640080"/>
          </a:xfrm>
          <a:prstGeom prst="rect">
            <a:avLst/>
          </a:prstGeom>
          <a:noFill/>
          <a:ln/>
        </p:spPr>
        <p:txBody>
          <a:bodyPr wrap="square" lIns="0" tIns="0" rIns="0" bIns="0" rtlCol="0" anchor="b"/>
          <a:lstStyle/>
          <a:p>
            <a:pPr indent="0" marL="0">
              <a:buNone/>
            </a:pPr>
            <a:r>
              <a:rPr lang="en-US" sz="3200" b="1" dirty="0">
                <a:solidFill>
                  <a:schemeClr val="accent4"/>
                </a:solidFill>
                <a:latin typeface="Cambria" pitchFamily="34" charset="0"/>
                <a:ea typeface="Cambria" pitchFamily="34" charset="-122"/>
                <a:cs typeface="Cambria" pitchFamily="34" charset="-120"/>
              </a:rPr>
              <a:t>57</a:t>
            </a:r>
            <a:endParaRPr lang="en-US" sz="3200" dirty="0"/>
          </a:p>
        </p:txBody>
      </p:sp>
      <p:sp>
        <p:nvSpPr>
          <p:cNvPr id="8" name="statlabel_108"/>
          <p:cNvSpPr txBox="1"/>
          <p:nvPr/>
        </p:nvSpPr>
        <p:spPr>
          <a:xfrm>
            <a:off x="685800" y="3474720"/>
            <a:ext cx="3383280" cy="502920"/>
          </a:xfrm>
          <a:prstGeom prst="rect">
            <a:avLst/>
          </a:prstGeom>
          <a:noFill/>
          <a:ln/>
        </p:spPr>
        <p:txBody>
          <a:bodyPr wrap="square" lIns="0" tIns="0" rIns="0" bIns="0" rtlCol="0" anchor="t"/>
          <a:lstStyle/>
          <a:p>
            <a:pPr indent="0" marL="0">
              <a:buNone/>
            </a:pPr>
            <a:r>
              <a:rPr lang="en-US" sz="1300" dirty="0">
                <a:solidFill>
                  <a:schemeClr val="tx1"/>
                </a:solidFill>
              </a:rPr>
              <a:t>products made a loss over the year; top revenue products ≠ top profit products</a:t>
            </a:r>
            <a:endParaRPr lang="en-US" sz="1300" dirty="0"/>
          </a:p>
        </p:txBody>
      </p:sp>
      <p:graphicFrame>
        <p:nvGraphicFramePr>
          <p:cNvPr id="9" name="chart_109" descr=""/>
          <p:cNvGraphicFramePr/>
          <p:nvPr/>
        </p:nvGraphicFramePr>
        <p:xfrm>
          <a:off x="4572000" y="1143000"/>
          <a:ext cx="4114800" cy="34290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Where machine learning can help next</a:t>
            </a:r>
            <a:endParaRPr lang="en-US" sz="2600" dirty="0"/>
          </a:p>
        </p:txBody>
      </p:sp>
      <p:graphicFrame>
        <p:nvGraphicFramePr>
          <p:cNvPr id="12" name="table_11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514600"/>
                <a:gridCol w="2880360"/>
                <a:gridCol w="2834640"/>
              </a:tblGrid>
              <a:tr h="50292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Problem</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Signal in the data</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Readiness</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tx2"/>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Pricing anomaly detection</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27% of sales below cost</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Ready now</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Customer churn / CLV</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Frequency drives value (r = 0.79)</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Ready to prototype</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Sales forecasting</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Mild Q4 seasonality</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Needs 2+ years of data</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Order completion prediction</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67% of orders not completed</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Needs cart and payment events</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r>
              <a:tr h="502920">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Return prediction</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No variable correlates with returns</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Needs delivery and review data</a:t>
                      </a:r>
                      <a:endParaRPr lang="en-US" sz="1300" dirty="0">
                        <a:latin typeface="Calibri" charset="0"/>
                        <a:ea typeface="Calibri" charset="0"/>
                        <a:cs typeface="Calibri" charset="0"/>
                      </a:endParaRPr>
                    </a:p>
                  </a:txBody>
                  <a:tcPr marL="91440" marR="91440" marT="0" marB="0"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Five recommendations</a:t>
            </a:r>
            <a:endParaRPr lang="en-US" sz="2600" dirty="0"/>
          </a:p>
        </p:txBody>
      </p:sp>
      <p:sp>
        <p:nvSpPr>
          <p:cNvPr id="4" name="badge_111"/>
          <p:cNvSpPr/>
          <p:nvPr/>
        </p:nvSpPr>
        <p:spPr>
          <a:xfrm>
            <a:off x="457200" y="1216152"/>
            <a:ext cx="384048" cy="384048"/>
          </a:xfrm>
          <a:prstGeom prst="ellipse">
            <a:avLst/>
          </a:prstGeom>
          <a:solidFill>
            <a:schemeClr val="accent1"/>
          </a:solidFill>
          <a:ln w="12700">
            <a:solidFill>
              <a:schemeClr val="accent1"/>
            </a:solidFill>
            <a:prstDash val="solid"/>
          </a:ln>
        </p:spPr>
      </p:sp>
      <p:sp>
        <p:nvSpPr>
          <p:cNvPr id="5" name="badgenum_112"/>
          <p:cNvSpPr txBox="1"/>
          <p:nvPr/>
        </p:nvSpPr>
        <p:spPr>
          <a:xfrm>
            <a:off x="457200" y="1216152"/>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rh_113"/>
          <p:cNvSpPr txBox="1"/>
          <p:nvPr/>
        </p:nvSpPr>
        <p:spPr>
          <a:xfrm>
            <a:off x="1051560" y="1143000"/>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Lift order completion</a:t>
            </a:r>
            <a:endParaRPr lang="en-US" sz="1500" dirty="0"/>
          </a:p>
        </p:txBody>
      </p:sp>
      <p:sp>
        <p:nvSpPr>
          <p:cNvPr id="7" name="rt_114"/>
          <p:cNvSpPr txBox="1"/>
          <p:nvPr/>
        </p:nvSpPr>
        <p:spPr>
          <a:xfrm>
            <a:off x="3840480" y="1143000"/>
            <a:ext cx="4846320" cy="548640"/>
          </a:xfrm>
          <a:prstGeom prst="rect">
            <a:avLst/>
          </a:prstGeom>
          <a:noFill/>
          <a:ln/>
        </p:spPr>
        <p:txBody>
          <a:bodyPr wrap="square" lIns="0" tIns="0" rIns="0" bIns="0" rtlCol="0" anchor="ctr"/>
          <a:lstStyle/>
          <a:p>
            <a:pPr indent="0" marL="0">
              <a:buNone/>
            </a:pPr>
            <a:r>
              <a:rPr lang="en-US" sz="1300" dirty="0">
                <a:solidFill>
                  <a:schemeClr val="tx1"/>
                </a:solidFill>
              </a:rPr>
              <a:t>Chase pending orders, find out why orders are cancelled, copy the best stores</a:t>
            </a:r>
            <a:endParaRPr lang="en-US" sz="1300" dirty="0"/>
          </a:p>
        </p:txBody>
      </p:sp>
      <p:sp>
        <p:nvSpPr>
          <p:cNvPr id="8" name="badge_115"/>
          <p:cNvSpPr/>
          <p:nvPr/>
        </p:nvSpPr>
        <p:spPr>
          <a:xfrm>
            <a:off x="457200" y="1920240"/>
            <a:ext cx="384048" cy="384048"/>
          </a:xfrm>
          <a:prstGeom prst="ellipse">
            <a:avLst/>
          </a:prstGeom>
          <a:solidFill>
            <a:schemeClr val="accent1"/>
          </a:solidFill>
          <a:ln w="12700">
            <a:solidFill>
              <a:schemeClr val="accent1"/>
            </a:solidFill>
            <a:prstDash val="solid"/>
          </a:ln>
        </p:spPr>
      </p:sp>
      <p:sp>
        <p:nvSpPr>
          <p:cNvPr id="9" name="badgenum_116"/>
          <p:cNvSpPr txBox="1"/>
          <p:nvPr/>
        </p:nvSpPr>
        <p:spPr>
          <a:xfrm>
            <a:off x="457200" y="1920240"/>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rh_117"/>
          <p:cNvSpPr txBox="1"/>
          <p:nvPr/>
        </p:nvSpPr>
        <p:spPr>
          <a:xfrm>
            <a:off x="1051560" y="1847088"/>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Enforce a price floor</a:t>
            </a:r>
            <a:endParaRPr lang="en-US" sz="1500" dirty="0"/>
          </a:p>
        </p:txBody>
      </p:sp>
      <p:sp>
        <p:nvSpPr>
          <p:cNvPr id="11" name="rt_118"/>
          <p:cNvSpPr txBox="1"/>
          <p:nvPr/>
        </p:nvSpPr>
        <p:spPr>
          <a:xfrm>
            <a:off x="3840480" y="1847088"/>
            <a:ext cx="4846320" cy="548640"/>
          </a:xfrm>
          <a:prstGeom prst="rect">
            <a:avLst/>
          </a:prstGeom>
          <a:noFill/>
          <a:ln/>
        </p:spPr>
        <p:txBody>
          <a:bodyPr wrap="square" lIns="0" tIns="0" rIns="0" bIns="0" rtlCol="0" anchor="ctr"/>
          <a:lstStyle/>
          <a:p>
            <a:pPr indent="0" marL="0">
              <a:buNone/>
            </a:pPr>
            <a:r>
              <a:rPr lang="en-US" sz="1300" dirty="0">
                <a:solidFill>
                  <a:schemeClr val="tx1"/>
                </a:solidFill>
              </a:rPr>
              <a:t>Block below-cost sales; review 57 loss-making products</a:t>
            </a:r>
            <a:endParaRPr lang="en-US" sz="1300" dirty="0"/>
          </a:p>
        </p:txBody>
      </p:sp>
      <p:sp>
        <p:nvSpPr>
          <p:cNvPr id="12" name="badge_119"/>
          <p:cNvSpPr/>
          <p:nvPr/>
        </p:nvSpPr>
        <p:spPr>
          <a:xfrm>
            <a:off x="457200" y="2624328"/>
            <a:ext cx="384048" cy="384048"/>
          </a:xfrm>
          <a:prstGeom prst="ellipse">
            <a:avLst/>
          </a:prstGeom>
          <a:solidFill>
            <a:schemeClr val="accent1"/>
          </a:solidFill>
          <a:ln w="12700">
            <a:solidFill>
              <a:schemeClr val="accent1"/>
            </a:solidFill>
            <a:prstDash val="solid"/>
          </a:ln>
        </p:spPr>
      </p:sp>
      <p:sp>
        <p:nvSpPr>
          <p:cNvPr id="13" name="badgenum_120"/>
          <p:cNvSpPr txBox="1"/>
          <p:nvPr/>
        </p:nvSpPr>
        <p:spPr>
          <a:xfrm>
            <a:off x="457200" y="2624328"/>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rh_121"/>
          <p:cNvSpPr txBox="1"/>
          <p:nvPr/>
        </p:nvSpPr>
        <p:spPr>
          <a:xfrm>
            <a:off x="1051560" y="2551176"/>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Rebuild loyalty on RFM</a:t>
            </a:r>
            <a:endParaRPr lang="en-US" sz="1500" dirty="0"/>
          </a:p>
        </p:txBody>
      </p:sp>
      <p:sp>
        <p:nvSpPr>
          <p:cNvPr id="15" name="rt_122"/>
          <p:cNvSpPr txBox="1"/>
          <p:nvPr/>
        </p:nvSpPr>
        <p:spPr>
          <a:xfrm>
            <a:off x="3840480" y="2551176"/>
            <a:ext cx="4846320" cy="548640"/>
          </a:xfrm>
          <a:prstGeom prst="rect">
            <a:avLst/>
          </a:prstGeom>
          <a:noFill/>
          <a:ln/>
        </p:spPr>
        <p:txBody>
          <a:bodyPr wrap="square" lIns="0" tIns="0" rIns="0" bIns="0" rtlCol="0" anchor="ctr"/>
          <a:lstStyle/>
          <a:p>
            <a:pPr indent="0" marL="0">
              <a:buNone/>
            </a:pPr>
            <a:r>
              <a:rPr lang="en-US" sz="1300" dirty="0">
                <a:solidFill>
                  <a:schemeClr val="tx1"/>
                </a:solidFill>
              </a:rPr>
              <a:t>Reward Champions, convert low-converters, win back lapsing customers</a:t>
            </a:r>
            <a:endParaRPr lang="en-US" sz="1300" dirty="0"/>
          </a:p>
        </p:txBody>
      </p:sp>
      <p:sp>
        <p:nvSpPr>
          <p:cNvPr id="16" name="badge_123"/>
          <p:cNvSpPr/>
          <p:nvPr/>
        </p:nvSpPr>
        <p:spPr>
          <a:xfrm>
            <a:off x="457200" y="3328416"/>
            <a:ext cx="384048" cy="384048"/>
          </a:xfrm>
          <a:prstGeom prst="ellipse">
            <a:avLst/>
          </a:prstGeom>
          <a:solidFill>
            <a:schemeClr val="accent1"/>
          </a:solidFill>
          <a:ln w="12700">
            <a:solidFill>
              <a:schemeClr val="accent1"/>
            </a:solidFill>
            <a:prstDash val="solid"/>
          </a:ln>
        </p:spPr>
      </p:sp>
      <p:sp>
        <p:nvSpPr>
          <p:cNvPr id="17" name="badgenum_124"/>
          <p:cNvSpPr txBox="1"/>
          <p:nvPr/>
        </p:nvSpPr>
        <p:spPr>
          <a:xfrm>
            <a:off x="457200" y="3328416"/>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rh_125"/>
          <p:cNvSpPr txBox="1"/>
          <p:nvPr/>
        </p:nvSpPr>
        <p:spPr>
          <a:xfrm>
            <a:off x="1051560" y="3255264"/>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Rebalance inventory</a:t>
            </a:r>
            <a:endParaRPr lang="en-US" sz="1500" dirty="0"/>
          </a:p>
        </p:txBody>
      </p:sp>
      <p:sp>
        <p:nvSpPr>
          <p:cNvPr id="19" name="rt_126"/>
          <p:cNvSpPr txBox="1"/>
          <p:nvPr/>
        </p:nvSpPr>
        <p:spPr>
          <a:xfrm>
            <a:off x="3840480" y="3255264"/>
            <a:ext cx="4846320" cy="548640"/>
          </a:xfrm>
          <a:prstGeom prst="rect">
            <a:avLst/>
          </a:prstGeom>
          <a:noFill/>
          <a:ln/>
        </p:spPr>
        <p:txBody>
          <a:bodyPr wrap="square" lIns="0" tIns="0" rIns="0" bIns="0" rtlCol="0" anchor="ctr"/>
          <a:lstStyle/>
          <a:p>
            <a:pPr indent="0" marL="0">
              <a:buNone/>
            </a:pPr>
            <a:r>
              <a:rPr lang="en-US" sz="1300" dirty="0">
                <a:solidFill>
                  <a:schemeClr val="tx1"/>
                </a:solidFill>
              </a:rPr>
              <a:t>Restock 21 Low items; move and cut excess stock</a:t>
            </a:r>
            <a:endParaRPr lang="en-US" sz="1300" dirty="0"/>
          </a:p>
        </p:txBody>
      </p:sp>
      <p:sp>
        <p:nvSpPr>
          <p:cNvPr id="20" name="badge_127"/>
          <p:cNvSpPr/>
          <p:nvPr/>
        </p:nvSpPr>
        <p:spPr>
          <a:xfrm>
            <a:off x="457200" y="4032504"/>
            <a:ext cx="384048" cy="384048"/>
          </a:xfrm>
          <a:prstGeom prst="ellipse">
            <a:avLst/>
          </a:prstGeom>
          <a:solidFill>
            <a:schemeClr val="accent1"/>
          </a:solidFill>
          <a:ln w="12700">
            <a:solidFill>
              <a:schemeClr val="accent1"/>
            </a:solidFill>
            <a:prstDash val="solid"/>
          </a:ln>
        </p:spPr>
      </p:sp>
      <p:sp>
        <p:nvSpPr>
          <p:cNvPr id="21" name="badgenum_128"/>
          <p:cNvSpPr txBox="1"/>
          <p:nvPr/>
        </p:nvSpPr>
        <p:spPr>
          <a:xfrm>
            <a:off x="457200" y="4032504"/>
            <a:ext cx="384048" cy="384048"/>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rh_129"/>
          <p:cNvSpPr txBox="1"/>
          <p:nvPr/>
        </p:nvSpPr>
        <p:spPr>
          <a:xfrm>
            <a:off x="1051560" y="3959352"/>
            <a:ext cx="2743200" cy="548640"/>
          </a:xfrm>
          <a:prstGeom prst="rect">
            <a:avLst/>
          </a:prstGeom>
          <a:noFill/>
          <a:ln/>
        </p:spPr>
        <p:txBody>
          <a:bodyPr wrap="square" lIns="0" tIns="0" rIns="0" bIns="0" rtlCol="0" anchor="ctr"/>
          <a:lstStyle/>
          <a:p>
            <a:pPr indent="0" marL="0">
              <a:buNone/>
            </a:pPr>
            <a:r>
              <a:rPr lang="en-US" sz="1500" b="1" dirty="0">
                <a:solidFill>
                  <a:schemeClr val="tx2"/>
                </a:solidFill>
              </a:rPr>
              <a:t>Invest in Beauty and Fashion</a:t>
            </a:r>
            <a:endParaRPr lang="en-US" sz="1500" dirty="0"/>
          </a:p>
        </p:txBody>
      </p:sp>
      <p:sp>
        <p:nvSpPr>
          <p:cNvPr id="23" name="rt_130"/>
          <p:cNvSpPr txBox="1"/>
          <p:nvPr/>
        </p:nvSpPr>
        <p:spPr>
          <a:xfrm>
            <a:off x="3840480" y="3959352"/>
            <a:ext cx="4846320" cy="548640"/>
          </a:xfrm>
          <a:prstGeom prst="rect">
            <a:avLst/>
          </a:prstGeom>
          <a:noFill/>
          <a:ln/>
        </p:spPr>
        <p:txBody>
          <a:bodyPr wrap="square" lIns="0" tIns="0" rIns="0" bIns="0" rtlCol="0" anchor="ctr"/>
          <a:lstStyle/>
          <a:p>
            <a:pPr indent="0" marL="0">
              <a:buNone/>
            </a:pPr>
            <a:r>
              <a:rPr lang="en-US" sz="1300" dirty="0">
                <a:solidFill>
                  <a:schemeClr val="tx1"/>
                </a:solidFill>
              </a:rPr>
              <a:t>Fastest growing with the biggest Q4 lift; fix data at source</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280160"/>
          </a:xfrm>
          <a:prstGeom prst="rect">
            <a:avLst/>
          </a:prstGeom>
          <a:noFill/>
          <a:ln/>
        </p:spPr>
        <p:txBody>
          <a:bodyPr wrap="square" lIns="0" tIns="0" rIns="0" bIns="0" rtlCol="0" anchor="b"/>
          <a:lstStyle/>
          <a:p>
            <a:pPr algn="l" indent="0" marL="0">
              <a:buNone/>
            </a:pPr>
            <a:r>
              <a:rPr lang="en-US" sz="3800" b="1" dirty="0">
                <a:solidFill>
                  <a:schemeClr val="bg1"/>
                </a:solidFill>
                <a:latin typeface="Cambria" pitchFamily="34" charset="0"/>
                <a:ea typeface="Cambria" pitchFamily="34" charset="-122"/>
                <a:cs typeface="Cambria" pitchFamily="34" charset="-120"/>
              </a:rPr>
              <a:t>Next: fix the data at source, then model</a:t>
            </a:r>
            <a:endParaRPr lang="en-US" sz="3800" dirty="0"/>
          </a:p>
        </p:txBody>
      </p:sp>
      <p:sp>
        <p:nvSpPr>
          <p:cNvPr id="3" name="Text 0"/>
          <p:cNvSpPr/>
          <p:nvPr>
            <p:ph idx="101" type="body" hasCustomPrompt="1"/>
          </p:nvPr>
        </p:nvSpPr>
        <p:spPr>
          <a:xfrm>
            <a:off x="548640" y="2788920"/>
            <a:ext cx="8046720" cy="1188720"/>
          </a:xfrm>
          <a:prstGeom prst="rect">
            <a:avLst/>
          </a:prstGeom>
          <a:noFill/>
          <a:ln/>
        </p:spPr>
        <p:txBody>
          <a:bodyPr wrap="square" lIns="0" tIns="0" rIns="0" bIns="0" rtlCol="0" anchor="t"/>
          <a:lstStyle/>
          <a:p>
            <a:pPr indent="0" marL="0">
              <a:buNone/>
            </a:pPr>
            <a:r>
              <a:rPr lang="en-US" sz="1600" dirty="0">
                <a:solidFill>
                  <a:schemeClr val="accent5"/>
                </a:solidFill>
                <a:latin typeface="Calibri" pitchFamily="34" charset="0"/>
                <a:ea typeface="Calibri" pitchFamily="34" charset="-122"/>
                <a:cs typeface="Calibri" pitchFamily="34" charset="-120"/>
              </a:rPr>
              <a:t>Full analysis: Week1_EDA.ipynb · Report: EDA_Report.pdf</a:t>
            </a:r>
            <a:endParaRPr lang="en-US" sz="1600" dirty="0"/>
          </a:p>
          <a:p>
            <a:pPr indent="0" marL="0">
              <a:buNone/>
            </a:pPr>
            <a:r>
              <a:rPr lang="en-US" sz="1600" dirty="0">
                <a:solidFill>
                  <a:schemeClr val="accent5"/>
                </a:solidFill>
                <a:latin typeface="Calibri" pitchFamily="34" charset="0"/>
                <a:ea typeface="Calibri" pitchFamily="34" charset="-122"/>
                <a:cs typeface="Calibri" pitchFamily="34" charset="-120"/>
              </a:rPr>
              <a:t>Cleaned data and engineered features are ready for the Machine Learning track</a:t>
            </a:r>
            <a:endParaRPr lang="en-US" sz="1600" dirty="0"/>
          </a:p>
        </p:txBody>
      </p:sp>
    </p:spTree>
  </p:cSld>
  <p:clrMapOvr>
    <a:masterClrMapping/>
  </p:clrMapOvr>
</p:sld>
</file>

<file path=ppt/theme/theme1.xml><?xml version="1.0" encoding="utf-8"?>
<a:theme xmlns:a="http://schemas.openxmlformats.org/drawingml/2006/main" name="ShopSmart Green">
  <a:themeElements>
    <a:clrScheme name="ShopSmart Green">
      <a:dk1>
        <a:srgbClr val="1B1F1D"/>
      </a:dk1>
      <a:lt1>
        <a:srgbClr val="FFFFFF"/>
      </a:lt1>
      <a:dk2>
        <a:srgbClr val="0B3D2E"/>
      </a:dk2>
      <a:lt2>
        <a:srgbClr val="EEF4F0"/>
      </a:lt2>
      <a:accent1>
        <a:srgbClr val="0F7B5A"/>
      </a:accent1>
      <a:accent2>
        <a:srgbClr val="E39B2D"/>
      </a:accent2>
      <a:accent3>
        <a:srgbClr val="8A9A93"/>
      </a:accent3>
      <a:accent4>
        <a:srgbClr val="C8553D"/>
      </a:accent4>
      <a:accent5>
        <a:srgbClr val="9CC5B3"/>
      </a:accent5>
      <a:accent6>
        <a:srgbClr val="2F4858"/>
      </a:accent6>
      <a:hlink>
        <a:srgbClr val="0F7B5A"/>
      </a:hlink>
      <a:folHlink>
        <a:srgbClr val="2F4858"/>
      </a:folHlink>
    </a:clrScheme>
    <a:fontScheme name="ShopSmart Gr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ShopSmart Retail EDA, Week 1</dc:title>
  <dc:subject>Mission DS01: Exploratory Data Analysis</dc:subject>
  <dc:creator>Molemi Molokoane</dc:creator>
  <cp:lastModifiedBy>Molemi Molokoane</cp:lastModifiedBy>
  <cp:revision>1</cp:revision>
  <dcterms:created xsi:type="dcterms:W3CDTF">2026-10-17T07:10:07Z</dcterms:created>
  <dcterms:modified xsi:type="dcterms:W3CDTF">2026-10-17T07:10:07Z</dcterms:modified>
</cp:coreProperties>
</file>